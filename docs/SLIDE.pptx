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JetBrains Mono" charset="1" panose="02010509020102050004"/>
      <p:regular r:id="rId21"/>
    </p:embeddedFont>
    <p:embeddedFont>
      <p:font typeface="IBM Plex Sans Bold" charset="1" panose="020B0803050203000203"/>
      <p:regular r:id="rId22"/>
    </p:embeddedFont>
    <p:embeddedFont>
      <p:font typeface="IBM Plex Sans" charset="1" panose="020B0503050203000203"/>
      <p:regular r:id="rId23"/>
    </p:embeddedFont>
    <p:embeddedFont>
      <p:font typeface="JetBrains Mono Bold" charset="1" panose="02010809030102050004"/>
      <p:regular r:id="rId26"/>
    </p:embeddedFont>
    <p:embeddedFont>
      <p:font typeface="Arimo Bold" charset="1" panose="020B0704020202020204"/>
      <p:regular r:id="rId29"/>
    </p:embeddedFont>
    <p:embeddedFont>
      <p:font typeface="Arimo" charset="1" panose="020B060402020202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30 giây. Nói ngay câu chốt: "Câu hỏi của đồ án này là — hệ thống dựa vào đâu để tin một thông tin."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45 giây. Đây là cái móc của cả bài: đừng vội nói về kỹ thuật.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45 giây. Nhấn vào dòng insider: hầu hết đồ án bỏ qua tác nhân này.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60 giây. Nói hệ quả của D4: có RCE trong app cũng không exfiltrate được dữ liệu.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75 giây. Dòng cuối là điểm nhấn: không tin cả DB của mình.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60 giây. Chỉ đọc 4 lớp tô đậm (5 Fingerprint, 8 Step-up OTP, 10 Ownership, 12 Audit hash-chain), đừng đọc hết 12.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45 giây. Dừng lại ở dòng R08: insider có quyền DB.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Theo kịch bản demo 9 phút 30. Nếu máy lỗi: phát video OBS dự phòng.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30 giây. Mỗi rủi ro trong ma trận đều trỏ tới ít nhất 1 test case. Bộ test bao phủ 6 kịch bản tấn công KB1–KB6.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60 giây. Đây là slide ghi điểm: có số thật, không nói chung chung.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45 giây. Biết mình chưa làm gì — nói thẳng, đừng né.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Đọc chậm bốn câu, dừng lại sau câu 3. Rồi mời hỏi đáp.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819150"/>
            <a:ext cx="876300" cy="47625"/>
            <a:chOff x="0" y="0"/>
            <a:chExt cx="1168400" cy="63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8400" cy="63500"/>
            </a:xfrm>
            <a:custGeom>
              <a:avLst/>
              <a:gdLst/>
              <a:ahLst/>
              <a:cxnLst/>
              <a:rect r="r" b="b" t="t" l="l"/>
              <a:pathLst>
                <a:path h="635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E5C8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684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764000" y="666750"/>
            <a:ext cx="47625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AAB6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097000" y="1619250"/>
            <a:ext cx="4191000" cy="8667750"/>
            <a:chOff x="0" y="0"/>
            <a:chExt cx="5588000" cy="1155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88000" cy="11557000"/>
            </a:xfrm>
            <a:custGeom>
              <a:avLst/>
              <a:gdLst/>
              <a:ahLst/>
              <a:cxnLst/>
              <a:rect r="r" b="b" t="t" l="l"/>
              <a:pathLst>
                <a:path h="11557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1557000"/>
                  </a:lnTo>
                  <a:lnTo>
                    <a:pt x="0" y="11557000"/>
                  </a:lnTo>
                  <a:close/>
                </a:path>
              </a:pathLst>
            </a:custGeom>
            <a:solidFill>
              <a:srgbClr val="2E5C8A">
                <a:alpha val="2392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588000" cy="1159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47750" y="2057400"/>
            <a:ext cx="11430000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</a:pPr>
            <a:r>
              <a:rPr lang="en-US" sz="9600" b="true">
                <a:solidFill>
                  <a:srgbClr val="F4F7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SecureGrade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750" y="3790950"/>
            <a:ext cx="9334500" cy="1155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050">
                <a:solidFill>
                  <a:srgbClr val="2E5C8A"/>
                </a:solidFill>
                <a:latin typeface="IBM Plex Sans"/>
                <a:ea typeface="IBM Plex Sans"/>
                <a:cs typeface="IBM Plex Sans"/>
                <a:sym typeface="IBM Plex Sans"/>
              </a:rPr>
              <a:t>Hệ thống nhập điểm</a:t>
            </a:r>
          </a:p>
          <a:p>
            <a:pPr algn="l">
              <a:lnSpc>
                <a:spcPts val="4536"/>
              </a:lnSpc>
            </a:pPr>
            <a:r>
              <a:rPr lang="en-US" sz="4050">
                <a:solidFill>
                  <a:srgbClr val="2E5C8A"/>
                </a:solidFill>
                <a:latin typeface="IBM Plex Sans"/>
                <a:ea typeface="IBM Plex Sans"/>
                <a:cs typeface="IBM Plex Sans"/>
                <a:sym typeface="IBM Plex Sans"/>
              </a:rPr>
              <a:t>chống giả mạo đầu vào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750" y="6229350"/>
            <a:ext cx="10953750" cy="209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AAB6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Đồ án cuối kỳ — Bảo mật mạng máy tính và hệ thống</a:t>
            </a:r>
          </a:p>
          <a:p>
            <a:pPr algn="l" marL="0" indent="0" lvl="0">
              <a:lnSpc>
                <a:spcPts val="279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AAB6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Hướng 1: Thiết kế hệ thống an toàn</a:t>
            </a:r>
          </a:p>
          <a:p>
            <a:pPr algn="l" marL="0" indent="0" lvl="0">
              <a:lnSpc>
                <a:spcPts val="279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79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AAB6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Nhóm: ____________________</a:t>
            </a:r>
          </a:p>
          <a:p>
            <a:pPr algn="l" marL="0" indent="0" lvl="0">
              <a:lnSpc>
                <a:spcPts val="279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AAB6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Thành viên: ____________________</a:t>
            </a:r>
          </a:p>
          <a:p>
            <a:pPr algn="l" marL="0" indent="0" lvl="0">
              <a:lnSpc>
                <a:spcPts val="279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AAB6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GVHD: 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6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819150"/>
            <a:ext cx="876300" cy="47625"/>
            <a:chOff x="0" y="0"/>
            <a:chExt cx="1168400" cy="63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8400" cy="63500"/>
            </a:xfrm>
            <a:custGeom>
              <a:avLst/>
              <a:gdLst/>
              <a:ahLst/>
              <a:cxnLst/>
              <a:rect r="r" b="b" t="t" l="l"/>
              <a:pathLst>
                <a:path h="635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E5C8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684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764000" y="666750"/>
            <a:ext cx="47625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AAB6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1485900"/>
            <a:ext cx="9906000" cy="1491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sz="5400" b="true">
                <a:solidFill>
                  <a:srgbClr val="F4F7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Điểm số là tài sản</a:t>
            </a:r>
          </a:p>
          <a:p>
            <a:pPr algn="l">
              <a:lnSpc>
                <a:spcPts val="5832"/>
              </a:lnSpc>
            </a:pPr>
            <a:r>
              <a:rPr lang="en-US" sz="5400" b="true">
                <a:solidFill>
                  <a:srgbClr val="F4F7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cần toàn vẹn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3676650"/>
            <a:ext cx="14287500" cy="105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AAB6C6"/>
                </a:solidFill>
                <a:latin typeface="IBM Plex Sans"/>
                <a:ea typeface="IBM Plex Sans"/>
                <a:cs typeface="IBM Plex Sans"/>
                <a:sym typeface="IBM Plex Sans"/>
              </a:rPr>
              <a:t>Điểm quyết định học bổng, cảnh báo học vụ, tốt nghiệp. Cổng vào duy nhất để sửa điểm là tài khoản giảng viên.</a:t>
            </a:r>
          </a:p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AAB6C6"/>
                </a:solidFill>
                <a:latin typeface="IBM Plex Sans"/>
                <a:ea typeface="IBM Plex Sans"/>
                <a:cs typeface="IBM Plex Sans"/>
                <a:sym typeface="IBM Plex Sans"/>
              </a:rPr>
              <a:t>Tình huống thật: giảng viên bị phishing / ClickFix → kẻ tấn công có mật khẩu, hoặc có luôn cookie phiên đang đăng nhập.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47750" y="5619750"/>
            <a:ext cx="12001500" cy="28575"/>
            <a:chOff x="0" y="0"/>
            <a:chExt cx="160020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002000" cy="38100"/>
            </a:xfrm>
            <a:custGeom>
              <a:avLst/>
              <a:gdLst/>
              <a:ahLst/>
              <a:cxnLst/>
              <a:rect r="r" b="b" t="t" l="l"/>
              <a:pathLst>
                <a:path h="38100" w="16002000">
                  <a:moveTo>
                    <a:pt x="0" y="0"/>
                  </a:moveTo>
                  <a:lnTo>
                    <a:pt x="16002000" y="0"/>
                  </a:lnTo>
                  <a:lnTo>
                    <a:pt x="1600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039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00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47750" y="6191250"/>
            <a:ext cx="15049500" cy="590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2"/>
              </a:lnSpc>
              <a:spcBef>
                <a:spcPct val="0"/>
              </a:spcBef>
            </a:pPr>
            <a:r>
              <a:rPr lang="en-US" b="true" sz="3900" strike="noStrike" u="none">
                <a:solidFill>
                  <a:srgbClr val="F4F7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Mật khẩu đúng có nghĩa là đúng người không?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819150"/>
            <a:ext cx="876300" cy="47625"/>
            <a:chOff x="0" y="0"/>
            <a:chExt cx="1168400" cy="63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8400" cy="63500"/>
            </a:xfrm>
            <a:custGeom>
              <a:avLst/>
              <a:gdLst/>
              <a:ahLst/>
              <a:cxnLst/>
              <a:rect r="r" b="b" t="t" l="l"/>
              <a:pathLst>
                <a:path h="635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E5C8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684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764000" y="666750"/>
            <a:ext cx="47625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AAB6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1352550"/>
            <a:ext cx="114300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F4F7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Bảo vệ cái gì, chống ai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7750" y="2381250"/>
            <a:ext cx="12573000" cy="4857750"/>
            <a:chOff x="0" y="0"/>
            <a:chExt cx="16764000" cy="6477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6764000" cy="6477000"/>
              <a:chOff x="0" y="0"/>
              <a:chExt cx="16764000" cy="6477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6764000" cy="6477000"/>
              </a:xfrm>
              <a:custGeom>
                <a:avLst/>
                <a:gdLst/>
                <a:ahLst/>
                <a:cxnLst/>
                <a:rect r="r" b="b" t="t" l="l"/>
                <a:pathLst>
                  <a:path h="6477000" w="16764000">
                    <a:moveTo>
                      <a:pt x="0" y="0"/>
                    </a:moveTo>
                    <a:lnTo>
                      <a:pt x="16764000" y="0"/>
                    </a:lnTo>
                    <a:lnTo>
                      <a:pt x="16764000" y="6477000"/>
                    </a:lnTo>
                    <a:lnTo>
                      <a:pt x="0" y="6477000"/>
                    </a:lnTo>
                    <a:close/>
                  </a:path>
                </a:pathLst>
              </a:custGeom>
              <a:solidFill>
                <a:srgbClr val="192A42"/>
              </a:solidFill>
              <a:ln w="9525" cap="sq">
                <a:solidFill>
                  <a:srgbClr val="34465D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6764000" cy="651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AutoShape 11" id="11"/>
            <p:cNvSpPr/>
            <p:nvPr/>
          </p:nvSpPr>
          <p:spPr>
            <a:xfrm>
              <a:off x="11734800" y="0"/>
              <a:ext cx="0" cy="6477000"/>
            </a:xfrm>
            <a:prstGeom prst="line">
              <a:avLst/>
            </a:prstGeom>
            <a:ln cap="flat" w="12700">
              <a:solidFill>
                <a:srgbClr val="34465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0" y="787400"/>
              <a:ext cx="16764000" cy="0"/>
            </a:xfrm>
            <a:prstGeom prst="line">
              <a:avLst/>
            </a:prstGeom>
            <a:ln cap="flat" w="25400">
              <a:solidFill>
                <a:srgbClr val="2E5C8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0" y="2209800"/>
              <a:ext cx="16764000" cy="0"/>
            </a:xfrm>
            <a:prstGeom prst="line">
              <a:avLst/>
            </a:prstGeom>
            <a:ln cap="flat" w="12700">
              <a:solidFill>
                <a:srgbClr val="34465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0" y="3632200"/>
              <a:ext cx="16764000" cy="0"/>
            </a:xfrm>
            <a:prstGeom prst="line">
              <a:avLst/>
            </a:prstGeom>
            <a:ln cap="flat" w="12700">
              <a:solidFill>
                <a:srgbClr val="34465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0" y="5054600"/>
              <a:ext cx="16764000" cy="0"/>
            </a:xfrm>
            <a:prstGeom prst="line">
              <a:avLst/>
            </a:prstGeom>
            <a:ln cap="flat" w="12700">
              <a:solidFill>
                <a:srgbClr val="34465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6" id="16"/>
            <p:cNvSpPr txBox="true"/>
            <p:nvPr/>
          </p:nvSpPr>
          <p:spPr>
            <a:xfrm rot="0">
              <a:off x="228600" y="177800"/>
              <a:ext cx="112776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2E5C8A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TÀI SẢN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1963400" y="177800"/>
              <a:ext cx="4572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2E5C8A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ƯU TIÊN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28600" y="1019175"/>
              <a:ext cx="1127760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5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A1 — Bảng điểm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1963400" y="1019175"/>
              <a:ext cx="457200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5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Integrity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28600" y="2441575"/>
              <a:ext cx="1127760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5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A2 — Tài khoản GV / Admin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1963400" y="2441575"/>
              <a:ext cx="457200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5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Confidentiality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28600" y="3863975"/>
              <a:ext cx="1127760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5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A4 — Secret: JWT, TOTP seed, mật khẩu DB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1963400" y="3863975"/>
              <a:ext cx="457200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5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Confidentiality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228600" y="5286375"/>
              <a:ext cx="1127760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5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A5 — Audit log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1963400" y="5286375"/>
              <a:ext cx="457200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5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Integrity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47750" y="8486775"/>
            <a:ext cx="16002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AAB6C6"/>
                </a:solidFill>
                <a:latin typeface="IBM Plex Sans"/>
                <a:ea typeface="IBM Plex Sans"/>
                <a:cs typeface="IBM Plex Sans"/>
                <a:sym typeface="IBM Plex Sans"/>
              </a:rPr>
              <a:t>Tác nhân đe doạ   ·   sinh viên có tài khoản hợp lệ   ·   kẻ phishing bên ngoài   ·   infostealer trên máy GV   ·   bot dò mật khẩu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47750" y="8915400"/>
            <a:ext cx="10477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C0392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·  insider có quyền DB — tác nhân mà hầu hết đồ án bỏ qua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819150"/>
            <a:ext cx="876300" cy="47625"/>
            <a:chOff x="0" y="0"/>
            <a:chExt cx="1168400" cy="63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8400" cy="63500"/>
            </a:xfrm>
            <a:custGeom>
              <a:avLst/>
              <a:gdLst/>
              <a:ahLst/>
              <a:cxnLst/>
              <a:rect r="r" b="b" t="t" l="l"/>
              <a:pathLst>
                <a:path h="635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E5C8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684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764000" y="666750"/>
            <a:ext cx="47625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AAB6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1495425"/>
            <a:ext cx="4476750" cy="1320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F4F7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Kiến trúc</a:t>
            </a:r>
          </a:p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F4F7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phân vùng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3638550"/>
            <a:ext cx="4000500" cy="257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7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4F7F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 zone</a:t>
            </a:r>
          </a:p>
          <a:p>
            <a:pPr algn="l" marL="0" indent="0" lvl="0">
              <a:lnSpc>
                <a:spcPts val="297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4F7F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 luồng được phép</a:t>
            </a:r>
          </a:p>
          <a:p>
            <a:pPr algn="l" marL="0" indent="0" lvl="0">
              <a:lnSpc>
                <a:spcPts val="297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4F7F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 luồng bị chặn</a:t>
            </a:r>
          </a:p>
          <a:p>
            <a:pPr algn="l" marL="0" indent="0" lvl="0">
              <a:lnSpc>
                <a:spcPts val="297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97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4F7F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Chỉ WAF publish cổng 8080.</a:t>
            </a:r>
          </a:p>
          <a:p>
            <a:pPr algn="l" marL="0" indent="0" lvl="0">
              <a:lnSpc>
                <a:spcPts val="297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4F7F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app và db không có port,</a:t>
            </a:r>
          </a:p>
          <a:p>
            <a:pPr algn="l" marL="0" indent="0" lvl="0">
              <a:lnSpc>
                <a:spcPts val="297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4F7F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không có egress Internet.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191250" y="1381125"/>
            <a:ext cx="11049000" cy="7239000"/>
            <a:chOff x="0" y="0"/>
            <a:chExt cx="14732000" cy="965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732000" cy="9652000"/>
            </a:xfrm>
            <a:custGeom>
              <a:avLst/>
              <a:gdLst/>
              <a:ahLst/>
              <a:cxnLst/>
              <a:rect r="r" b="b" t="t" l="l"/>
              <a:pathLst>
                <a:path h="9652000" w="14732000">
                  <a:moveTo>
                    <a:pt x="0" y="0"/>
                  </a:moveTo>
                  <a:lnTo>
                    <a:pt x="14732000" y="0"/>
                  </a:lnTo>
                  <a:lnTo>
                    <a:pt x="14732000" y="9652000"/>
                  </a:lnTo>
                  <a:lnTo>
                    <a:pt x="0" y="9652000"/>
                  </a:lnTo>
                  <a:close/>
                </a:path>
              </a:pathLst>
            </a:custGeom>
            <a:solidFill>
              <a:srgbClr val="16243A"/>
            </a:solidFill>
            <a:ln w="9525" cap="sq">
              <a:solidFill>
                <a:srgbClr val="34465D"/>
              </a:solidFill>
              <a:prstDash val="lgDash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732000" cy="969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572250" y="8867775"/>
            <a:ext cx="9906000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04"/>
              </a:lnSpc>
              <a:spcBef>
                <a:spcPct val="0"/>
              </a:spcBef>
            </a:pPr>
            <a:r>
              <a:rPr lang="en-US" sz="1575" strike="noStrike" u="none">
                <a:solidFill>
                  <a:srgbClr val="AAB6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Đã chứng minh bằng lệnh:  D1 refused  ·  D2 refused  ·  D3 không resolve được db  ·  D4 app không gọi được ra Internet</a:t>
            </a:r>
          </a:p>
        </p:txBody>
      </p:sp>
      <p:sp>
        <p:nvSpPr>
          <p:cNvPr name="Freeform 12" id="12" descr="Sơ đồ kiến trúc phân vùng ba zone của SecureGrade"/>
          <p:cNvSpPr/>
          <p:nvPr/>
        </p:nvSpPr>
        <p:spPr>
          <a:xfrm flipH="false" flipV="false" rot="0">
            <a:off x="6905625" y="1381125"/>
            <a:ext cx="9620250" cy="7239000"/>
          </a:xfrm>
          <a:custGeom>
            <a:avLst/>
            <a:gdLst/>
            <a:ahLst/>
            <a:cxnLst/>
            <a:rect r="r" b="b" t="t" l="l"/>
            <a:pathLst>
              <a:path h="7239000" w="9620250">
                <a:moveTo>
                  <a:pt x="0" y="0"/>
                </a:moveTo>
                <a:lnTo>
                  <a:pt x="9620250" y="0"/>
                </a:lnTo>
                <a:lnTo>
                  <a:pt x="9620250" y="7239000"/>
                </a:lnTo>
                <a:lnTo>
                  <a:pt x="0" y="7239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" t="0" r="-81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819150"/>
            <a:ext cx="876300" cy="47625"/>
            <a:chOff x="0" y="0"/>
            <a:chExt cx="1168400" cy="63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8400" cy="63500"/>
            </a:xfrm>
            <a:custGeom>
              <a:avLst/>
              <a:gdLst/>
              <a:ahLst/>
              <a:cxnLst/>
              <a:rect r="r" b="b" t="t" l="l"/>
              <a:pathLst>
                <a:path h="635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E5C8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684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764000" y="666750"/>
            <a:ext cx="47625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AAB6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1304925"/>
            <a:ext cx="1047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F4F7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Không tin mặc định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7750" y="2286000"/>
            <a:ext cx="15240000" cy="4972050"/>
            <a:chOff x="0" y="0"/>
            <a:chExt cx="20320000" cy="66294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0320000" cy="6629400"/>
              <a:chOff x="0" y="0"/>
              <a:chExt cx="20320000" cy="66294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0320000" cy="6629400"/>
              </a:xfrm>
              <a:custGeom>
                <a:avLst/>
                <a:gdLst/>
                <a:ahLst/>
                <a:cxnLst/>
                <a:rect r="r" b="b" t="t" l="l"/>
                <a:pathLst>
                  <a:path h="6629400" w="20320000">
                    <a:moveTo>
                      <a:pt x="0" y="0"/>
                    </a:moveTo>
                    <a:lnTo>
                      <a:pt x="20320000" y="0"/>
                    </a:lnTo>
                    <a:lnTo>
                      <a:pt x="20320000" y="6629400"/>
                    </a:lnTo>
                    <a:lnTo>
                      <a:pt x="0" y="6629400"/>
                    </a:lnTo>
                    <a:close/>
                  </a:path>
                </a:pathLst>
              </a:custGeom>
              <a:solidFill>
                <a:srgbClr val="192A42"/>
              </a:solidFill>
              <a:ln w="9525" cap="sq">
                <a:solidFill>
                  <a:srgbClr val="34465D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0320000" cy="666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AutoShape 11" id="11"/>
            <p:cNvSpPr/>
            <p:nvPr/>
          </p:nvSpPr>
          <p:spPr>
            <a:xfrm>
              <a:off x="8128000" y="0"/>
              <a:ext cx="0" cy="6629400"/>
            </a:xfrm>
            <a:prstGeom prst="line">
              <a:avLst/>
            </a:prstGeom>
            <a:ln cap="flat" w="12700">
              <a:solidFill>
                <a:srgbClr val="34465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0" y="787400"/>
              <a:ext cx="20320000" cy="0"/>
            </a:xfrm>
            <a:prstGeom prst="line">
              <a:avLst/>
            </a:prstGeom>
            <a:ln cap="flat" w="25400">
              <a:solidFill>
                <a:srgbClr val="2E5C8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0" y="1955800"/>
              <a:ext cx="20320000" cy="0"/>
            </a:xfrm>
            <a:prstGeom prst="line">
              <a:avLst/>
            </a:prstGeom>
            <a:ln cap="flat" w="12700">
              <a:solidFill>
                <a:srgbClr val="34465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0" y="3124200"/>
              <a:ext cx="20320000" cy="0"/>
            </a:xfrm>
            <a:prstGeom prst="line">
              <a:avLst/>
            </a:prstGeom>
            <a:ln cap="flat" w="12700">
              <a:solidFill>
                <a:srgbClr val="34465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0" y="4292600"/>
              <a:ext cx="20320000" cy="0"/>
            </a:xfrm>
            <a:prstGeom prst="line">
              <a:avLst/>
            </a:prstGeom>
            <a:ln cap="flat" w="12700">
              <a:solidFill>
                <a:srgbClr val="34465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>
              <a:off x="0" y="5461000"/>
              <a:ext cx="20320000" cy="0"/>
            </a:xfrm>
            <a:prstGeom prst="line">
              <a:avLst/>
            </a:prstGeom>
            <a:ln cap="flat" w="12700">
              <a:solidFill>
                <a:srgbClr val="34465D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7" id="17"/>
            <p:cNvGrpSpPr/>
            <p:nvPr/>
          </p:nvGrpSpPr>
          <p:grpSpPr>
            <a:xfrm rot="0">
              <a:off x="0" y="5461000"/>
              <a:ext cx="20320000" cy="1168400"/>
              <a:chOff x="0" y="0"/>
              <a:chExt cx="20320000" cy="11684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0320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20320000">
                    <a:moveTo>
                      <a:pt x="0" y="0"/>
                    </a:moveTo>
                    <a:lnTo>
                      <a:pt x="20320000" y="0"/>
                    </a:lnTo>
                    <a:lnTo>
                      <a:pt x="20320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C0392B">
                  <a:alpha val="17647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20320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28600" y="177800"/>
              <a:ext cx="76708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2E5C8A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THÔNG TIN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8356600" y="177800"/>
              <a:ext cx="117348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2E5C8A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KIỂM CHỨNG BẰNG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28600" y="1028700"/>
              <a:ext cx="7670800" cy="316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Mật khẩu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8356600" y="1019175"/>
              <a:ext cx="11734800" cy="326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bcrypt + OTP từ thiết bị khác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228600" y="2197100"/>
              <a:ext cx="7670800" cy="316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Claim role trong JWT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8356600" y="2187575"/>
              <a:ext cx="11734800" cy="326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Không dùng — đọc role từ bảng users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228600" y="3365500"/>
              <a:ext cx="7670800" cy="316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Cookie phiên hợp lệ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8356600" y="3355975"/>
              <a:ext cx="11734800" cy="326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Fingerprint + step-up OTP khi sửa điểm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228600" y="4533900"/>
              <a:ext cx="7670800" cy="316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enrollmentId từ client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8356600" y="4524375"/>
              <a:ext cx="11734800" cy="326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Truy vấn ownership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228600" y="5702300"/>
              <a:ext cx="7670800" cy="316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b="true" sz="1575" strike="noStrike" u="none">
                  <a:solidFill>
                    <a:srgbClr val="F4F7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Dữ liệu trong DB của chính mình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8356600" y="5692775"/>
              <a:ext cx="11734800" cy="326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b="true" sz="1575" strike="noStrike" u="none">
                  <a:solidFill>
                    <a:srgbClr val="F4F7FB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Hash-chain + đối chiếu điểm với log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47750" y="7705725"/>
            <a:ext cx="152400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E5C8A"/>
                </a:solidFill>
                <a:latin typeface="Arimo Bold"/>
                <a:ea typeface="Arimo Bold"/>
                <a:cs typeface="Arimo Bold"/>
                <a:sym typeface="Arimo Bold"/>
              </a:rPr>
              <a:t>Hệ thống dựa vào đâu để tin một thông tin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6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819150"/>
            <a:ext cx="876300" cy="47625"/>
            <a:chOff x="0" y="0"/>
            <a:chExt cx="1168400" cy="63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8400" cy="63500"/>
            </a:xfrm>
            <a:custGeom>
              <a:avLst/>
              <a:gdLst/>
              <a:ahLst/>
              <a:cxnLst/>
              <a:rect r="r" b="b" t="t" l="l"/>
              <a:pathLst>
                <a:path h="635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E5C8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684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764000" y="666750"/>
            <a:ext cx="47625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AAB6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1209675"/>
            <a:ext cx="12382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F4F7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Pipeline 12 lớp kiểm chứng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7750" y="2476500"/>
            <a:ext cx="15478125" cy="2362200"/>
            <a:chOff x="0" y="0"/>
            <a:chExt cx="20637500" cy="31496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984500" cy="990600"/>
              <a:chOff x="0" y="0"/>
              <a:chExt cx="2984500" cy="9906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984500" cy="990600"/>
              </a:xfrm>
              <a:custGeom>
                <a:avLst/>
                <a:gdLst/>
                <a:ahLst/>
                <a:cxnLst/>
                <a:rect r="r" b="b" t="t" l="l"/>
                <a:pathLst>
                  <a:path h="990600" w="2984500">
                    <a:moveTo>
                      <a:pt x="0" y="0"/>
                    </a:moveTo>
                    <a:lnTo>
                      <a:pt x="2984500" y="0"/>
                    </a:lnTo>
                    <a:lnTo>
                      <a:pt x="2984500" y="990600"/>
                    </a:lnTo>
                    <a:lnTo>
                      <a:pt x="0" y="990600"/>
                    </a:lnTo>
                    <a:close/>
                  </a:path>
                </a:pathLst>
              </a:custGeom>
              <a:solidFill>
                <a:srgbClr val="192A42"/>
              </a:solidFill>
              <a:ln w="9525" cap="sq">
                <a:solidFill>
                  <a:srgbClr val="34465D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2984500" cy="1019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95"/>
                  </a:lnSpc>
                  <a:spcBef>
                    <a:spcPct val="0"/>
                  </a:spcBef>
                </a:pPr>
                <a:r>
                  <a:rPr lang="en-US" sz="1425" strike="noStrike" u="none">
                    <a:solidFill>
                      <a:srgbClr val="F4F7FB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1 · WAF</a:t>
                </a:r>
              </a:p>
            </p:txBody>
          </p:sp>
        </p:grpSp>
        <p:sp>
          <p:nvSpPr>
            <p:cNvPr name="AutoShape 11" id="11"/>
            <p:cNvSpPr/>
            <p:nvPr/>
          </p:nvSpPr>
          <p:spPr>
            <a:xfrm>
              <a:off x="3035300" y="495300"/>
              <a:ext cx="381000" cy="0"/>
            </a:xfrm>
            <a:prstGeom prst="line">
              <a:avLst/>
            </a:prstGeom>
            <a:ln cap="rnd" w="25400">
              <a:solidFill>
                <a:srgbClr val="2E5C8A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2" id="12"/>
            <p:cNvGrpSpPr/>
            <p:nvPr/>
          </p:nvGrpSpPr>
          <p:grpSpPr>
            <a:xfrm rot="0">
              <a:off x="3530600" y="0"/>
              <a:ext cx="2984500" cy="990600"/>
              <a:chOff x="0" y="0"/>
              <a:chExt cx="2984500" cy="9906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984500" cy="990600"/>
              </a:xfrm>
              <a:custGeom>
                <a:avLst/>
                <a:gdLst/>
                <a:ahLst/>
                <a:cxnLst/>
                <a:rect r="r" b="b" t="t" l="l"/>
                <a:pathLst>
                  <a:path h="990600" w="2984500">
                    <a:moveTo>
                      <a:pt x="0" y="0"/>
                    </a:moveTo>
                    <a:lnTo>
                      <a:pt x="2984500" y="0"/>
                    </a:lnTo>
                    <a:lnTo>
                      <a:pt x="2984500" y="990600"/>
                    </a:lnTo>
                    <a:lnTo>
                      <a:pt x="0" y="990600"/>
                    </a:lnTo>
                    <a:close/>
                  </a:path>
                </a:pathLst>
              </a:custGeom>
              <a:solidFill>
                <a:srgbClr val="192A42"/>
              </a:solidFill>
              <a:ln w="9525" cap="sq">
                <a:solidFill>
                  <a:srgbClr val="34465D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2984500" cy="1019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95"/>
                  </a:lnSpc>
                  <a:spcBef>
                    <a:spcPct val="0"/>
                  </a:spcBef>
                </a:pPr>
                <a:r>
                  <a:rPr lang="en-US" sz="1425" strike="noStrike" u="none">
                    <a:solidFill>
                      <a:srgbClr val="F4F7FB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2 · Rate limit</a:t>
                </a:r>
              </a:p>
            </p:txBody>
          </p:sp>
        </p:grpSp>
        <p:sp>
          <p:nvSpPr>
            <p:cNvPr name="AutoShape 15" id="15"/>
            <p:cNvSpPr/>
            <p:nvPr/>
          </p:nvSpPr>
          <p:spPr>
            <a:xfrm>
              <a:off x="6565900" y="495300"/>
              <a:ext cx="381000" cy="0"/>
            </a:xfrm>
            <a:prstGeom prst="line">
              <a:avLst/>
            </a:prstGeom>
            <a:ln cap="rnd" w="25400">
              <a:solidFill>
                <a:srgbClr val="2E5C8A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6" id="16"/>
            <p:cNvGrpSpPr/>
            <p:nvPr/>
          </p:nvGrpSpPr>
          <p:grpSpPr>
            <a:xfrm rot="0">
              <a:off x="7061200" y="0"/>
              <a:ext cx="2984500" cy="990600"/>
              <a:chOff x="0" y="0"/>
              <a:chExt cx="2984500" cy="9906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984500" cy="990600"/>
              </a:xfrm>
              <a:custGeom>
                <a:avLst/>
                <a:gdLst/>
                <a:ahLst/>
                <a:cxnLst/>
                <a:rect r="r" b="b" t="t" l="l"/>
                <a:pathLst>
                  <a:path h="990600" w="2984500">
                    <a:moveTo>
                      <a:pt x="0" y="0"/>
                    </a:moveTo>
                    <a:lnTo>
                      <a:pt x="2984500" y="0"/>
                    </a:lnTo>
                    <a:lnTo>
                      <a:pt x="2984500" y="990600"/>
                    </a:lnTo>
                    <a:lnTo>
                      <a:pt x="0" y="990600"/>
                    </a:lnTo>
                    <a:close/>
                  </a:path>
                </a:pathLst>
              </a:custGeom>
              <a:solidFill>
                <a:srgbClr val="192A42"/>
              </a:solidFill>
              <a:ln w="9525" cap="sq">
                <a:solidFill>
                  <a:srgbClr val="34465D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28575"/>
                <a:ext cx="2984500" cy="1019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95"/>
                  </a:lnSpc>
                  <a:spcBef>
                    <a:spcPct val="0"/>
                  </a:spcBef>
                </a:pPr>
                <a:r>
                  <a:rPr lang="en-US" sz="1425" strike="noStrike" u="none">
                    <a:solidFill>
                      <a:srgbClr val="F4F7FB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3 · Chữ ký JWT</a:t>
                </a:r>
              </a:p>
            </p:txBody>
          </p:sp>
        </p:grpSp>
        <p:sp>
          <p:nvSpPr>
            <p:cNvPr name="AutoShape 19" id="19"/>
            <p:cNvSpPr/>
            <p:nvPr/>
          </p:nvSpPr>
          <p:spPr>
            <a:xfrm>
              <a:off x="10096500" y="495300"/>
              <a:ext cx="381000" cy="0"/>
            </a:xfrm>
            <a:prstGeom prst="line">
              <a:avLst/>
            </a:prstGeom>
            <a:ln cap="rnd" w="25400">
              <a:solidFill>
                <a:srgbClr val="2E5C8A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0" id="20"/>
            <p:cNvGrpSpPr/>
            <p:nvPr/>
          </p:nvGrpSpPr>
          <p:grpSpPr>
            <a:xfrm rot="0">
              <a:off x="10591800" y="0"/>
              <a:ext cx="2984500" cy="990600"/>
              <a:chOff x="0" y="0"/>
              <a:chExt cx="2984500" cy="9906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984500" cy="990600"/>
              </a:xfrm>
              <a:custGeom>
                <a:avLst/>
                <a:gdLst/>
                <a:ahLst/>
                <a:cxnLst/>
                <a:rect r="r" b="b" t="t" l="l"/>
                <a:pathLst>
                  <a:path h="990600" w="2984500">
                    <a:moveTo>
                      <a:pt x="0" y="0"/>
                    </a:moveTo>
                    <a:lnTo>
                      <a:pt x="2984500" y="0"/>
                    </a:lnTo>
                    <a:lnTo>
                      <a:pt x="2984500" y="990600"/>
                    </a:lnTo>
                    <a:lnTo>
                      <a:pt x="0" y="990600"/>
                    </a:lnTo>
                    <a:close/>
                  </a:path>
                </a:pathLst>
              </a:custGeom>
              <a:solidFill>
                <a:srgbClr val="192A42"/>
              </a:solidFill>
              <a:ln w="9525" cap="sq">
                <a:solidFill>
                  <a:srgbClr val="34465D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2984500" cy="1019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95"/>
                  </a:lnSpc>
                  <a:spcBef>
                    <a:spcPct val="0"/>
                  </a:spcBef>
                </a:pPr>
                <a:r>
                  <a:rPr lang="en-US" sz="1425" strike="noStrike" u="none">
                    <a:solidFill>
                      <a:srgbClr val="F4F7FB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4 · Session</a:t>
                </a:r>
              </a:p>
              <a:p>
                <a:pPr algn="ctr" marL="0" indent="0" lvl="0">
                  <a:lnSpc>
                    <a:spcPts val="1995"/>
                  </a:lnSpc>
                  <a:spcBef>
                    <a:spcPct val="0"/>
                  </a:spcBef>
                </a:pPr>
                <a:r>
                  <a:rPr lang="en-US" sz="1425" strike="noStrike" u="none">
                    <a:solidFill>
                      <a:srgbClr val="F4F7FB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trong DB</a:t>
                </a:r>
              </a:p>
            </p:txBody>
          </p:sp>
        </p:grpSp>
        <p:sp>
          <p:nvSpPr>
            <p:cNvPr name="AutoShape 23" id="23"/>
            <p:cNvSpPr/>
            <p:nvPr/>
          </p:nvSpPr>
          <p:spPr>
            <a:xfrm>
              <a:off x="13627100" y="495300"/>
              <a:ext cx="381000" cy="0"/>
            </a:xfrm>
            <a:prstGeom prst="line">
              <a:avLst/>
            </a:prstGeom>
            <a:ln cap="rnd" w="25400">
              <a:solidFill>
                <a:srgbClr val="2E5C8A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4" id="24"/>
            <p:cNvGrpSpPr/>
            <p:nvPr/>
          </p:nvGrpSpPr>
          <p:grpSpPr>
            <a:xfrm rot="0">
              <a:off x="14122400" y="0"/>
              <a:ext cx="2984500" cy="990600"/>
              <a:chOff x="0" y="0"/>
              <a:chExt cx="2984500" cy="9906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984500" cy="990600"/>
              </a:xfrm>
              <a:custGeom>
                <a:avLst/>
                <a:gdLst/>
                <a:ahLst/>
                <a:cxnLst/>
                <a:rect r="r" b="b" t="t" l="l"/>
                <a:pathLst>
                  <a:path h="990600" w="2984500">
                    <a:moveTo>
                      <a:pt x="0" y="0"/>
                    </a:moveTo>
                    <a:lnTo>
                      <a:pt x="2984500" y="0"/>
                    </a:lnTo>
                    <a:lnTo>
                      <a:pt x="2984500" y="990600"/>
                    </a:lnTo>
                    <a:lnTo>
                      <a:pt x="0" y="990600"/>
                    </a:lnTo>
                    <a:close/>
                  </a:path>
                </a:pathLst>
              </a:custGeom>
              <a:solidFill>
                <a:srgbClr val="2E5C8A"/>
              </a:solidFill>
              <a:ln w="9525" cap="sq">
                <a:solidFill>
                  <a:srgbClr val="34465D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2984500" cy="1019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95"/>
                  </a:lnSpc>
                  <a:spcBef>
                    <a:spcPct val="0"/>
                  </a:spcBef>
                </a:pPr>
                <a:r>
                  <a:rPr lang="en-US" b="true" sz="1425" strike="noStrike" u="none">
                    <a:solidFill>
                      <a:srgbClr val="F4F7FB"/>
                    </a:solidFill>
                    <a:latin typeface="IBM Plex Sans Bold"/>
                    <a:ea typeface="IBM Plex Sans Bold"/>
                    <a:cs typeface="IBM Plex Sans Bold"/>
                    <a:sym typeface="IBM Plex Sans Bold"/>
                  </a:rPr>
                  <a:t>5 · Fingerprint</a:t>
                </a:r>
              </a:p>
            </p:txBody>
          </p:sp>
        </p:grpSp>
        <p:sp>
          <p:nvSpPr>
            <p:cNvPr name="AutoShape 27" id="27"/>
            <p:cNvSpPr/>
            <p:nvPr/>
          </p:nvSpPr>
          <p:spPr>
            <a:xfrm>
              <a:off x="17157700" y="495300"/>
              <a:ext cx="381000" cy="0"/>
            </a:xfrm>
            <a:prstGeom prst="line">
              <a:avLst/>
            </a:prstGeom>
            <a:ln cap="rnd" w="25400">
              <a:solidFill>
                <a:srgbClr val="2E5C8A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8" id="28"/>
            <p:cNvGrpSpPr/>
            <p:nvPr/>
          </p:nvGrpSpPr>
          <p:grpSpPr>
            <a:xfrm rot="0">
              <a:off x="17653000" y="0"/>
              <a:ext cx="2984500" cy="990600"/>
              <a:chOff x="0" y="0"/>
              <a:chExt cx="2984500" cy="9906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984500" cy="990600"/>
              </a:xfrm>
              <a:custGeom>
                <a:avLst/>
                <a:gdLst/>
                <a:ahLst/>
                <a:cxnLst/>
                <a:rect r="r" b="b" t="t" l="l"/>
                <a:pathLst>
                  <a:path h="990600" w="2984500">
                    <a:moveTo>
                      <a:pt x="0" y="0"/>
                    </a:moveTo>
                    <a:lnTo>
                      <a:pt x="2984500" y="0"/>
                    </a:lnTo>
                    <a:lnTo>
                      <a:pt x="2984500" y="990600"/>
                    </a:lnTo>
                    <a:lnTo>
                      <a:pt x="0" y="990600"/>
                    </a:lnTo>
                    <a:close/>
                  </a:path>
                </a:pathLst>
              </a:custGeom>
              <a:solidFill>
                <a:srgbClr val="192A42"/>
              </a:solidFill>
              <a:ln w="9525" cap="sq">
                <a:solidFill>
                  <a:srgbClr val="34465D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28575"/>
                <a:ext cx="2984500" cy="1019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95"/>
                  </a:lnSpc>
                  <a:spcBef>
                    <a:spcPct val="0"/>
                  </a:spcBef>
                </a:pPr>
                <a:r>
                  <a:rPr lang="en-US" sz="1425" strike="noStrike" u="none">
                    <a:solidFill>
                      <a:srgbClr val="F4F7FB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6 · MFA</a:t>
                </a: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2159000"/>
              <a:ext cx="2984500" cy="990600"/>
              <a:chOff x="0" y="0"/>
              <a:chExt cx="2984500" cy="9906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984500" cy="990600"/>
              </a:xfrm>
              <a:custGeom>
                <a:avLst/>
                <a:gdLst/>
                <a:ahLst/>
                <a:cxnLst/>
                <a:rect r="r" b="b" t="t" l="l"/>
                <a:pathLst>
                  <a:path h="990600" w="2984500">
                    <a:moveTo>
                      <a:pt x="0" y="0"/>
                    </a:moveTo>
                    <a:lnTo>
                      <a:pt x="2984500" y="0"/>
                    </a:lnTo>
                    <a:lnTo>
                      <a:pt x="2984500" y="990600"/>
                    </a:lnTo>
                    <a:lnTo>
                      <a:pt x="0" y="990600"/>
                    </a:lnTo>
                    <a:close/>
                  </a:path>
                </a:pathLst>
              </a:custGeom>
              <a:solidFill>
                <a:srgbClr val="192A42"/>
              </a:solidFill>
              <a:ln w="9525" cap="sq">
                <a:solidFill>
                  <a:srgbClr val="34465D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28575"/>
                <a:ext cx="2984500" cy="1019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95"/>
                  </a:lnSpc>
                  <a:spcBef>
                    <a:spcPct val="0"/>
                  </a:spcBef>
                </a:pPr>
                <a:r>
                  <a:rPr lang="en-US" sz="1425" strike="noStrike" u="none">
                    <a:solidFill>
                      <a:srgbClr val="F4F7FB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7 · RBAC</a:t>
                </a:r>
              </a:p>
            </p:txBody>
          </p:sp>
        </p:grpSp>
        <p:sp>
          <p:nvSpPr>
            <p:cNvPr name="AutoShape 34" id="34"/>
            <p:cNvSpPr/>
            <p:nvPr/>
          </p:nvSpPr>
          <p:spPr>
            <a:xfrm>
              <a:off x="3035300" y="2654300"/>
              <a:ext cx="381000" cy="0"/>
            </a:xfrm>
            <a:prstGeom prst="line">
              <a:avLst/>
            </a:prstGeom>
            <a:ln cap="rnd" w="25400">
              <a:solidFill>
                <a:srgbClr val="2E5C8A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5" id="35"/>
            <p:cNvGrpSpPr/>
            <p:nvPr/>
          </p:nvGrpSpPr>
          <p:grpSpPr>
            <a:xfrm rot="0">
              <a:off x="3530600" y="2159000"/>
              <a:ext cx="2984500" cy="990600"/>
              <a:chOff x="0" y="0"/>
              <a:chExt cx="2984500" cy="9906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984500" cy="990600"/>
              </a:xfrm>
              <a:custGeom>
                <a:avLst/>
                <a:gdLst/>
                <a:ahLst/>
                <a:cxnLst/>
                <a:rect r="r" b="b" t="t" l="l"/>
                <a:pathLst>
                  <a:path h="990600" w="2984500">
                    <a:moveTo>
                      <a:pt x="0" y="0"/>
                    </a:moveTo>
                    <a:lnTo>
                      <a:pt x="2984500" y="0"/>
                    </a:lnTo>
                    <a:lnTo>
                      <a:pt x="2984500" y="990600"/>
                    </a:lnTo>
                    <a:lnTo>
                      <a:pt x="0" y="990600"/>
                    </a:lnTo>
                    <a:close/>
                  </a:path>
                </a:pathLst>
              </a:custGeom>
              <a:solidFill>
                <a:srgbClr val="2E5C8A"/>
              </a:solidFill>
              <a:ln w="9525" cap="sq">
                <a:solidFill>
                  <a:srgbClr val="34465D"/>
                </a:solidFill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28575"/>
                <a:ext cx="2984500" cy="1019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95"/>
                  </a:lnSpc>
                  <a:spcBef>
                    <a:spcPct val="0"/>
                  </a:spcBef>
                </a:pPr>
                <a:r>
                  <a:rPr lang="en-US" b="true" sz="1425" strike="noStrike" u="none">
                    <a:solidFill>
                      <a:srgbClr val="F4F7FB"/>
                    </a:solidFill>
                    <a:latin typeface="IBM Plex Sans Bold"/>
                    <a:ea typeface="IBM Plex Sans Bold"/>
                    <a:cs typeface="IBM Plex Sans Bold"/>
                    <a:sym typeface="IBM Plex Sans Bold"/>
                  </a:rPr>
                  <a:t>8 · Step-up OTP</a:t>
                </a:r>
              </a:p>
            </p:txBody>
          </p:sp>
        </p:grpSp>
        <p:sp>
          <p:nvSpPr>
            <p:cNvPr name="AutoShape 38" id="38"/>
            <p:cNvSpPr/>
            <p:nvPr/>
          </p:nvSpPr>
          <p:spPr>
            <a:xfrm>
              <a:off x="6565900" y="2654300"/>
              <a:ext cx="381000" cy="0"/>
            </a:xfrm>
            <a:prstGeom prst="line">
              <a:avLst/>
            </a:prstGeom>
            <a:ln cap="rnd" w="25400">
              <a:solidFill>
                <a:srgbClr val="2E5C8A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9" id="39"/>
            <p:cNvGrpSpPr/>
            <p:nvPr/>
          </p:nvGrpSpPr>
          <p:grpSpPr>
            <a:xfrm rot="0">
              <a:off x="7061200" y="2159000"/>
              <a:ext cx="2984500" cy="990600"/>
              <a:chOff x="0" y="0"/>
              <a:chExt cx="2984500" cy="9906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2984500" cy="990600"/>
              </a:xfrm>
              <a:custGeom>
                <a:avLst/>
                <a:gdLst/>
                <a:ahLst/>
                <a:cxnLst/>
                <a:rect r="r" b="b" t="t" l="l"/>
                <a:pathLst>
                  <a:path h="990600" w="2984500">
                    <a:moveTo>
                      <a:pt x="0" y="0"/>
                    </a:moveTo>
                    <a:lnTo>
                      <a:pt x="2984500" y="0"/>
                    </a:lnTo>
                    <a:lnTo>
                      <a:pt x="2984500" y="990600"/>
                    </a:lnTo>
                    <a:lnTo>
                      <a:pt x="0" y="990600"/>
                    </a:lnTo>
                    <a:close/>
                  </a:path>
                </a:pathLst>
              </a:custGeom>
              <a:solidFill>
                <a:srgbClr val="192A42"/>
              </a:solidFill>
              <a:ln w="9525" cap="sq">
                <a:solidFill>
                  <a:srgbClr val="34465D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28575"/>
                <a:ext cx="2984500" cy="1019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95"/>
                  </a:lnSpc>
                  <a:spcBef>
                    <a:spcPct val="0"/>
                  </a:spcBef>
                </a:pPr>
                <a:r>
                  <a:rPr lang="en-US" sz="1425" strike="noStrike" u="none">
                    <a:solidFill>
                      <a:srgbClr val="F4F7FB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9 · Validation</a:t>
                </a:r>
              </a:p>
            </p:txBody>
          </p:sp>
        </p:grpSp>
        <p:sp>
          <p:nvSpPr>
            <p:cNvPr name="AutoShape 42" id="42"/>
            <p:cNvSpPr/>
            <p:nvPr/>
          </p:nvSpPr>
          <p:spPr>
            <a:xfrm>
              <a:off x="10096500" y="2654300"/>
              <a:ext cx="381000" cy="0"/>
            </a:xfrm>
            <a:prstGeom prst="line">
              <a:avLst/>
            </a:prstGeom>
            <a:ln cap="rnd" w="25400">
              <a:solidFill>
                <a:srgbClr val="2E5C8A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43" id="43"/>
            <p:cNvGrpSpPr/>
            <p:nvPr/>
          </p:nvGrpSpPr>
          <p:grpSpPr>
            <a:xfrm rot="0">
              <a:off x="10591800" y="2159000"/>
              <a:ext cx="2984500" cy="990600"/>
              <a:chOff x="0" y="0"/>
              <a:chExt cx="2984500" cy="9906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2984500" cy="990600"/>
              </a:xfrm>
              <a:custGeom>
                <a:avLst/>
                <a:gdLst/>
                <a:ahLst/>
                <a:cxnLst/>
                <a:rect r="r" b="b" t="t" l="l"/>
                <a:pathLst>
                  <a:path h="990600" w="2984500">
                    <a:moveTo>
                      <a:pt x="0" y="0"/>
                    </a:moveTo>
                    <a:lnTo>
                      <a:pt x="2984500" y="0"/>
                    </a:lnTo>
                    <a:lnTo>
                      <a:pt x="2984500" y="990600"/>
                    </a:lnTo>
                    <a:lnTo>
                      <a:pt x="0" y="990600"/>
                    </a:lnTo>
                    <a:close/>
                  </a:path>
                </a:pathLst>
              </a:custGeom>
              <a:solidFill>
                <a:srgbClr val="2E5C8A"/>
              </a:solidFill>
              <a:ln w="9525" cap="sq">
                <a:solidFill>
                  <a:srgbClr val="34465D"/>
                </a:solidFill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28575"/>
                <a:ext cx="2984500" cy="1019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95"/>
                  </a:lnSpc>
                  <a:spcBef>
                    <a:spcPct val="0"/>
                  </a:spcBef>
                </a:pPr>
                <a:r>
                  <a:rPr lang="en-US" b="true" sz="1425" strike="noStrike" u="none">
                    <a:solidFill>
                      <a:srgbClr val="F4F7FB"/>
                    </a:solidFill>
                    <a:latin typeface="IBM Plex Sans Bold"/>
                    <a:ea typeface="IBM Plex Sans Bold"/>
                    <a:cs typeface="IBM Plex Sans Bold"/>
                    <a:sym typeface="IBM Plex Sans Bold"/>
                  </a:rPr>
                  <a:t>10 · Ownership</a:t>
                </a:r>
              </a:p>
            </p:txBody>
          </p:sp>
        </p:grpSp>
        <p:sp>
          <p:nvSpPr>
            <p:cNvPr name="AutoShape 46" id="46"/>
            <p:cNvSpPr/>
            <p:nvPr/>
          </p:nvSpPr>
          <p:spPr>
            <a:xfrm>
              <a:off x="13627100" y="2654300"/>
              <a:ext cx="381000" cy="0"/>
            </a:xfrm>
            <a:prstGeom prst="line">
              <a:avLst/>
            </a:prstGeom>
            <a:ln cap="rnd" w="25400">
              <a:solidFill>
                <a:srgbClr val="2E5C8A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47" id="47"/>
            <p:cNvGrpSpPr/>
            <p:nvPr/>
          </p:nvGrpSpPr>
          <p:grpSpPr>
            <a:xfrm rot="0">
              <a:off x="14122400" y="2159000"/>
              <a:ext cx="2984500" cy="990600"/>
              <a:chOff x="0" y="0"/>
              <a:chExt cx="2984500" cy="9906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2984500" cy="990600"/>
              </a:xfrm>
              <a:custGeom>
                <a:avLst/>
                <a:gdLst/>
                <a:ahLst/>
                <a:cxnLst/>
                <a:rect r="r" b="b" t="t" l="l"/>
                <a:pathLst>
                  <a:path h="990600" w="2984500">
                    <a:moveTo>
                      <a:pt x="0" y="0"/>
                    </a:moveTo>
                    <a:lnTo>
                      <a:pt x="2984500" y="0"/>
                    </a:lnTo>
                    <a:lnTo>
                      <a:pt x="2984500" y="990600"/>
                    </a:lnTo>
                    <a:lnTo>
                      <a:pt x="0" y="990600"/>
                    </a:lnTo>
                    <a:close/>
                  </a:path>
                </a:pathLst>
              </a:custGeom>
              <a:solidFill>
                <a:srgbClr val="192A42"/>
              </a:solidFill>
              <a:ln w="9525" cap="sq">
                <a:solidFill>
                  <a:srgbClr val="34465D"/>
                </a:solidFill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28575"/>
                <a:ext cx="2984500" cy="1019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95"/>
                  </a:lnSpc>
                  <a:spcBef>
                    <a:spcPct val="0"/>
                  </a:spcBef>
                </a:pPr>
                <a:r>
                  <a:rPr lang="en-US" sz="1425" strike="noStrike" u="none">
                    <a:solidFill>
                      <a:srgbClr val="F4F7F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· Parameterized</a:t>
                </a:r>
              </a:p>
              <a:p>
                <a:pPr algn="ctr" marL="0" indent="0" lvl="0">
                  <a:lnSpc>
                    <a:spcPts val="1995"/>
                  </a:lnSpc>
                  <a:spcBef>
                    <a:spcPct val="0"/>
                  </a:spcBef>
                </a:pPr>
                <a:r>
                  <a:rPr lang="en-US" sz="1425" strike="noStrike" u="none">
                    <a:solidFill>
                      <a:srgbClr val="F4F7F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query</a:t>
                </a:r>
              </a:p>
            </p:txBody>
          </p:sp>
        </p:grpSp>
        <p:sp>
          <p:nvSpPr>
            <p:cNvPr name="AutoShape 50" id="50"/>
            <p:cNvSpPr/>
            <p:nvPr/>
          </p:nvSpPr>
          <p:spPr>
            <a:xfrm>
              <a:off x="17157700" y="2654300"/>
              <a:ext cx="381000" cy="0"/>
            </a:xfrm>
            <a:prstGeom prst="line">
              <a:avLst/>
            </a:prstGeom>
            <a:ln cap="rnd" w="25400">
              <a:solidFill>
                <a:srgbClr val="2E5C8A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51" id="51"/>
            <p:cNvGrpSpPr/>
            <p:nvPr/>
          </p:nvGrpSpPr>
          <p:grpSpPr>
            <a:xfrm rot="0">
              <a:off x="17653000" y="2159000"/>
              <a:ext cx="2984500" cy="990600"/>
              <a:chOff x="0" y="0"/>
              <a:chExt cx="2984500" cy="9906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2984500" cy="990600"/>
              </a:xfrm>
              <a:custGeom>
                <a:avLst/>
                <a:gdLst/>
                <a:ahLst/>
                <a:cxnLst/>
                <a:rect r="r" b="b" t="t" l="l"/>
                <a:pathLst>
                  <a:path h="990600" w="2984500">
                    <a:moveTo>
                      <a:pt x="0" y="0"/>
                    </a:moveTo>
                    <a:lnTo>
                      <a:pt x="2984500" y="0"/>
                    </a:lnTo>
                    <a:lnTo>
                      <a:pt x="2984500" y="990600"/>
                    </a:lnTo>
                    <a:lnTo>
                      <a:pt x="0" y="990600"/>
                    </a:lnTo>
                    <a:close/>
                  </a:path>
                </a:pathLst>
              </a:custGeom>
              <a:solidFill>
                <a:srgbClr val="2E5C8A"/>
              </a:solidFill>
              <a:ln w="9525" cap="sq">
                <a:solidFill>
                  <a:srgbClr val="34465D"/>
                </a:solidFill>
                <a:prstDash val="solid"/>
                <a:miter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28575"/>
                <a:ext cx="2984500" cy="1019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95"/>
                  </a:lnSpc>
                  <a:spcBef>
                    <a:spcPct val="0"/>
                  </a:spcBef>
                </a:pPr>
                <a:r>
                  <a:rPr lang="en-US" b="true" sz="1425" strike="noStrike" u="none">
                    <a:solidFill>
                      <a:srgbClr val="F4F7FB"/>
                    </a:solidFill>
                    <a:latin typeface="JetBrains Mono Bold"/>
                    <a:ea typeface="JetBrains Mono Bold"/>
                    <a:cs typeface="JetBrains Mono Bold"/>
                    <a:sym typeface="JetBrains Mono Bold"/>
                  </a:rPr>
                  <a:t>12 · Audit</a:t>
                </a:r>
              </a:p>
              <a:p>
                <a:pPr algn="ctr" marL="0" indent="0" lvl="0">
                  <a:lnSpc>
                    <a:spcPts val="1995"/>
                  </a:lnSpc>
                  <a:spcBef>
                    <a:spcPct val="0"/>
                  </a:spcBef>
                </a:pPr>
                <a:r>
                  <a:rPr lang="en-US" b="true" sz="1425" strike="noStrike" u="none">
                    <a:solidFill>
                      <a:srgbClr val="F4F7FB"/>
                    </a:solidFill>
                    <a:latin typeface="JetBrains Mono Bold"/>
                    <a:ea typeface="JetBrains Mono Bold"/>
                    <a:cs typeface="JetBrains Mono Bold"/>
                    <a:sym typeface="JetBrains Mono Bold"/>
                  </a:rPr>
                  <a:t>hash-chain</a:t>
                </a:r>
              </a:p>
            </p:txBody>
          </p:sp>
        </p:grpSp>
      </p:grpSp>
      <p:grpSp>
        <p:nvGrpSpPr>
          <p:cNvPr name="Group 54" id="54"/>
          <p:cNvGrpSpPr/>
          <p:nvPr/>
        </p:nvGrpSpPr>
        <p:grpSpPr>
          <a:xfrm rot="0">
            <a:off x="1047750" y="5953125"/>
            <a:ext cx="16002000" cy="2333625"/>
            <a:chOff x="0" y="0"/>
            <a:chExt cx="21336000" cy="31115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336000" cy="3111500"/>
            </a:xfrm>
            <a:custGeom>
              <a:avLst/>
              <a:gdLst/>
              <a:ahLst/>
              <a:cxnLst/>
              <a:rect r="r" b="b" t="t" l="l"/>
              <a:pathLst>
                <a:path h="31115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3111500"/>
                  </a:lnTo>
                  <a:lnTo>
                    <a:pt x="0" y="3111500"/>
                  </a:lnTo>
                  <a:close/>
                </a:path>
              </a:pathLst>
            </a:custGeom>
            <a:solidFill>
              <a:srgbClr val="16243A"/>
            </a:solidFill>
            <a:ln w="9525" cap="sq">
              <a:solidFill>
                <a:srgbClr val="34465D"/>
              </a:solidFill>
              <a:prstDash val="lgDash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21336000" cy="3149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524000" y="6438900"/>
            <a:ext cx="15049500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F4F7F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Mỗi lớp độc lập — lớp trước thủng thì lớp sau vẫn giữ.</a:t>
            </a:r>
          </a:p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F4F7F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Audit nằm cùng transaction với điểm → không tồn tại trạng thái “điểm đổi mà không có log”.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819150"/>
            <a:ext cx="876300" cy="47625"/>
            <a:chOff x="0" y="0"/>
            <a:chExt cx="1168400" cy="63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8400" cy="63500"/>
            </a:xfrm>
            <a:custGeom>
              <a:avLst/>
              <a:gdLst/>
              <a:ahLst/>
              <a:cxnLst/>
              <a:rect r="r" b="b" t="t" l="l"/>
              <a:pathLst>
                <a:path h="635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E5C8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684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764000" y="666750"/>
            <a:ext cx="47625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AAB6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1209675"/>
            <a:ext cx="8572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F4F7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Top 5 rủi ro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7750" y="2190750"/>
            <a:ext cx="16192500" cy="4972050"/>
            <a:chOff x="0" y="0"/>
            <a:chExt cx="21590000" cy="66294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1590000" cy="6629400"/>
              <a:chOff x="0" y="0"/>
              <a:chExt cx="21590000" cy="66294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1590000" cy="6629400"/>
              </a:xfrm>
              <a:custGeom>
                <a:avLst/>
                <a:gdLst/>
                <a:ahLst/>
                <a:cxnLst/>
                <a:rect r="r" b="b" t="t" l="l"/>
                <a:pathLst>
                  <a:path h="6629400" w="21590000">
                    <a:moveTo>
                      <a:pt x="0" y="0"/>
                    </a:moveTo>
                    <a:lnTo>
                      <a:pt x="21590000" y="0"/>
                    </a:lnTo>
                    <a:lnTo>
                      <a:pt x="21590000" y="6629400"/>
                    </a:lnTo>
                    <a:lnTo>
                      <a:pt x="0" y="6629400"/>
                    </a:lnTo>
                    <a:close/>
                  </a:path>
                </a:pathLst>
              </a:custGeom>
              <a:solidFill>
                <a:srgbClr val="192A42"/>
              </a:solidFill>
              <a:ln w="9525" cap="sq">
                <a:solidFill>
                  <a:srgbClr val="34465D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1590000" cy="666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AutoShape 11" id="11"/>
            <p:cNvSpPr/>
            <p:nvPr/>
          </p:nvSpPr>
          <p:spPr>
            <a:xfrm>
              <a:off x="1511300" y="0"/>
              <a:ext cx="0" cy="6629400"/>
            </a:xfrm>
            <a:prstGeom prst="line">
              <a:avLst/>
            </a:prstGeom>
            <a:ln cap="flat" w="12700">
              <a:solidFill>
                <a:srgbClr val="34465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6908800" y="0"/>
              <a:ext cx="0" cy="6629400"/>
            </a:xfrm>
            <a:prstGeom prst="line">
              <a:avLst/>
            </a:prstGeom>
            <a:ln cap="flat" w="12700">
              <a:solidFill>
                <a:srgbClr val="34465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12306300" y="0"/>
              <a:ext cx="0" cy="6629400"/>
            </a:xfrm>
            <a:prstGeom prst="line">
              <a:avLst/>
            </a:prstGeom>
            <a:ln cap="flat" w="12700">
              <a:solidFill>
                <a:srgbClr val="34465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18135600" y="0"/>
              <a:ext cx="0" cy="6629400"/>
            </a:xfrm>
            <a:prstGeom prst="line">
              <a:avLst/>
            </a:prstGeom>
            <a:ln cap="flat" w="12700">
              <a:solidFill>
                <a:srgbClr val="34465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0" y="787400"/>
              <a:ext cx="21590000" cy="0"/>
            </a:xfrm>
            <a:prstGeom prst="line">
              <a:avLst/>
            </a:prstGeom>
            <a:ln cap="flat" w="25400">
              <a:solidFill>
                <a:srgbClr val="2E5C8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>
              <a:off x="0" y="1955800"/>
              <a:ext cx="21590000" cy="0"/>
            </a:xfrm>
            <a:prstGeom prst="line">
              <a:avLst/>
            </a:prstGeom>
            <a:ln cap="flat" w="12700">
              <a:solidFill>
                <a:srgbClr val="34465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>
              <a:off x="0" y="3124200"/>
              <a:ext cx="21590000" cy="0"/>
            </a:xfrm>
            <a:prstGeom prst="line">
              <a:avLst/>
            </a:prstGeom>
            <a:ln cap="flat" w="12700">
              <a:solidFill>
                <a:srgbClr val="34465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>
              <a:off x="0" y="4292600"/>
              <a:ext cx="21590000" cy="0"/>
            </a:xfrm>
            <a:prstGeom prst="line">
              <a:avLst/>
            </a:prstGeom>
            <a:ln cap="flat" w="12700">
              <a:solidFill>
                <a:srgbClr val="34465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0" y="5461000"/>
              <a:ext cx="21590000" cy="0"/>
            </a:xfrm>
            <a:prstGeom prst="line">
              <a:avLst/>
            </a:prstGeom>
            <a:ln cap="flat" w="12700">
              <a:solidFill>
                <a:srgbClr val="34465D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0" id="20"/>
            <p:cNvGrpSpPr/>
            <p:nvPr/>
          </p:nvGrpSpPr>
          <p:grpSpPr>
            <a:xfrm rot="0">
              <a:off x="0" y="5461000"/>
              <a:ext cx="21590000" cy="1168400"/>
              <a:chOff x="0" y="0"/>
              <a:chExt cx="21590000" cy="11684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1590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21590000">
                    <a:moveTo>
                      <a:pt x="0" y="0"/>
                    </a:moveTo>
                    <a:lnTo>
                      <a:pt x="21590000" y="0"/>
                    </a:lnTo>
                    <a:lnTo>
                      <a:pt x="21590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C0392B">
                  <a:alpha val="17647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21590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228600" y="177800"/>
              <a:ext cx="10541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2E5C8A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ID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739900" y="177800"/>
              <a:ext cx="49403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2E5C8A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RỦI RO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7137400" y="177800"/>
              <a:ext cx="49403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2E5C8A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PREVENT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2534900" y="177800"/>
              <a:ext cx="53721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2E5C8A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DETECT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8364200" y="177800"/>
              <a:ext cx="29972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2E5C8A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TEST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228600" y="1019175"/>
              <a:ext cx="1054100" cy="326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R01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739900" y="1028700"/>
              <a:ext cx="4940300" cy="316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Phishing lộ mật khẩu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7137400" y="1028700"/>
              <a:ext cx="4940300" cy="316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MFA TOTP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2534900" y="1019175"/>
              <a:ext cx="5372100" cy="326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MFA_FAIL_THRESHOLD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8364200" y="1019175"/>
              <a:ext cx="2997200" cy="326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TC09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228600" y="2187575"/>
              <a:ext cx="1054100" cy="326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R02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739900" y="2197100"/>
              <a:ext cx="4940300" cy="316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Đánh cắp cookie phiên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7137400" y="2197100"/>
              <a:ext cx="4940300" cy="316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Fingerprint + step-up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12534900" y="2187575"/>
              <a:ext cx="5372100" cy="326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SESSION_CONTEXT_MISMATCH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8364200" y="2187575"/>
              <a:ext cx="2997200" cy="326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TC14, TC15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228600" y="3355975"/>
              <a:ext cx="1054100" cy="326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R03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739900" y="3365500"/>
              <a:ext cx="4940300" cy="316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Giả mạo JWT nâng quyền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7137400" y="3365500"/>
              <a:ext cx="4940300" cy="316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Cố định HS256, role từ DB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12534900" y="3355975"/>
              <a:ext cx="5372100" cy="326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JWT_INVALID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18364200" y="3355975"/>
              <a:ext cx="2997200" cy="326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TC11, TC12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228600" y="4524375"/>
              <a:ext cx="1054100" cy="326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R04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1739900" y="4533900"/>
              <a:ext cx="4940300" cy="316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IDOR: đổi enrollmentId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7137400" y="4533900"/>
              <a:ext cx="4940300" cy="316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RBAC + ownership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12534900" y="4524375"/>
              <a:ext cx="5372100" cy="326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ACCESS_DENIED_IDOR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18364200" y="4524375"/>
              <a:ext cx="2997200" cy="326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TC16, TC17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228600" y="5692775"/>
              <a:ext cx="1054100" cy="326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b="true" sz="1575" strike="noStrike" u="none">
                  <a:solidFill>
                    <a:srgbClr val="F4F7FB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R08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1739900" y="5702300"/>
              <a:ext cx="4940300" cy="316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b="true" sz="1575" strike="noStrike" u="none">
                  <a:solidFill>
                    <a:srgbClr val="F4F7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Insider sửa DB, xoá log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7137400" y="5702300"/>
              <a:ext cx="4940300" cy="316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b="true" sz="1575" strike="noStrike" u="none">
                  <a:solidFill>
                    <a:srgbClr val="F4F7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audit_log append-only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12534900" y="5692775"/>
              <a:ext cx="5372100" cy="326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b="true" sz="1575" strike="noStrike" u="none">
                  <a:solidFill>
                    <a:srgbClr val="F4F7FB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Hash-chain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18364200" y="5692775"/>
              <a:ext cx="2997200" cy="326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b="true" sz="1575" strike="noStrike" u="none">
                  <a:solidFill>
                    <a:srgbClr val="F4F7FB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TC22–TC24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16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819150"/>
            <a:ext cx="876300" cy="47625"/>
            <a:chOff x="0" y="0"/>
            <a:chExt cx="1168400" cy="63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8400" cy="63500"/>
            </a:xfrm>
            <a:custGeom>
              <a:avLst/>
              <a:gdLst/>
              <a:ahLst/>
              <a:cxnLst/>
              <a:rect r="r" b="b" t="t" l="l"/>
              <a:pathLst>
                <a:path h="635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E5C8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684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764000" y="666750"/>
            <a:ext cx="47625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AAB6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86000" y="2847975"/>
            <a:ext cx="13716000" cy="269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50"/>
              </a:lnSpc>
            </a:pPr>
            <a:r>
              <a:rPr lang="en-US" b="true" sz="15750" spc="1260">
                <a:solidFill>
                  <a:srgbClr val="F4F7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DEMO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524750" y="5619750"/>
            <a:ext cx="3238500" cy="38100"/>
            <a:chOff x="0" y="0"/>
            <a:chExt cx="4318000" cy="50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18000" cy="50800"/>
            </a:xfrm>
            <a:custGeom>
              <a:avLst/>
              <a:gdLst/>
              <a:ahLst/>
              <a:cxnLst/>
              <a:rect r="r" b="b" t="t" l="l"/>
              <a:pathLst>
                <a:path h="508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E5C8A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18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429000" y="5819775"/>
            <a:ext cx="114300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2E5C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Chuyển sang màn hình live  ·  KB1 → KB6 trên hệ thống đang chạy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819150"/>
            <a:ext cx="876300" cy="47625"/>
            <a:chOff x="0" y="0"/>
            <a:chExt cx="1168400" cy="63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8400" cy="63500"/>
            </a:xfrm>
            <a:custGeom>
              <a:avLst/>
              <a:gdLst/>
              <a:ahLst/>
              <a:cxnLst/>
              <a:rect r="r" b="b" t="t" l="l"/>
              <a:pathLst>
                <a:path h="635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E5C8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684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764000" y="666750"/>
            <a:ext cx="47625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AAB6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1304925"/>
            <a:ext cx="8572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F4F7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Kết quả kiểm thử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3181350"/>
            <a:ext cx="6572250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50"/>
              </a:lnSpc>
            </a:pPr>
            <a:r>
              <a:rPr lang="en-US" sz="12750" b="true">
                <a:solidFill>
                  <a:srgbClr val="F4F7F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25/25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750" y="5543550"/>
            <a:ext cx="4953000" cy="1128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2E5C8A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 case PASS</a:t>
            </a:r>
          </a:p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2E5C8A"/>
                </a:solidFill>
                <a:latin typeface="IBM Plex Sans"/>
                <a:ea typeface="IBM Plex Sans"/>
                <a:cs typeface="IBM Plex Sans"/>
                <a:sym typeface="IBM Plex Sans"/>
              </a:rPr>
              <a:t>6 luồng bình thường</a:t>
            </a:r>
          </a:p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2E5C8A"/>
                </a:solidFill>
                <a:latin typeface="IBM Plex Sans"/>
                <a:ea typeface="IBM Plex Sans"/>
                <a:cs typeface="IBM Plex Sans"/>
                <a:sym typeface="IBM Plex Sans"/>
              </a:rPr>
              <a:t>+ 19 test tấn công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620000" y="2190750"/>
            <a:ext cx="9429750" cy="5905500"/>
            <a:chOff x="0" y="0"/>
            <a:chExt cx="12573000" cy="787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730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12573000">
                  <a:moveTo>
                    <a:pt x="0" y="0"/>
                  </a:moveTo>
                  <a:lnTo>
                    <a:pt x="12573000" y="0"/>
                  </a:lnTo>
                  <a:lnTo>
                    <a:pt x="12573000" y="7874000"/>
                  </a:lnTo>
                  <a:lnTo>
                    <a:pt x="0" y="7874000"/>
                  </a:lnTo>
                  <a:close/>
                </a:path>
              </a:pathLst>
            </a:custGeom>
            <a:solidFill>
              <a:srgbClr val="0F1C2E"/>
            </a:solidFill>
            <a:ln w="9525" cap="sq">
              <a:solidFill>
                <a:srgbClr val="34465D"/>
              </a:solidFill>
              <a:prstDash val="lgDash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573000" cy="791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477250" y="8391525"/>
            <a:ext cx="7620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34465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Trích kết quả thực tế — docs/evidence/07-run-tests-output.txt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53375" y="2466975"/>
            <a:ext cx="8763000" cy="4003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425">
                <a:solidFill>
                  <a:srgbClr val="AAB6C6"/>
                </a:solidFill>
                <a:latin typeface="Arimo"/>
                <a:ea typeface="Arimo"/>
                <a:cs typeface="Arimo"/>
                <a:sym typeface="Arimo"/>
              </a:rPr>
              <a:t>$ node tests/run-tests.mjs</a:t>
            </a:r>
          </a:p>
          <a:p>
            <a:pPr algn="l">
              <a:lnSpc>
                <a:spcPts val="2137"/>
              </a:lnSpc>
            </a:pPr>
          </a:p>
          <a:p>
            <a:pPr algn="l">
              <a:lnSpc>
                <a:spcPts val="2137"/>
              </a:lnSpc>
            </a:pPr>
            <a:r>
              <a:rPr lang="en-US" sz="1425">
                <a:solidFill>
                  <a:srgbClr val="AAB6C6"/>
                </a:solidFill>
                <a:latin typeface="Arimo"/>
                <a:ea typeface="Arimo"/>
                <a:cs typeface="Arimo"/>
                <a:sym typeface="Arimo"/>
              </a:rPr>
              <a:t> TC01   PASS   bat buoc MFA lan dau</a:t>
            </a:r>
          </a:p>
          <a:p>
            <a:pPr algn="l">
              <a:lnSpc>
                <a:spcPts val="2137"/>
              </a:lnSpc>
            </a:pPr>
            <a:r>
              <a:rPr lang="en-US" sz="1425">
                <a:solidFill>
                  <a:srgbClr val="AAB6C6"/>
                </a:solidFill>
                <a:latin typeface="Arimo"/>
                <a:ea typeface="Arimo"/>
                <a:cs typeface="Arimo"/>
                <a:sym typeface="Arimo"/>
              </a:rPr>
              <a:t> TC11   PASS   sua payload JWT</a:t>
            </a:r>
          </a:p>
          <a:p>
            <a:pPr algn="l">
              <a:lnSpc>
                <a:spcPts val="2137"/>
              </a:lnSpc>
            </a:pPr>
            <a:r>
              <a:rPr lang="en-US" sz="1425">
                <a:solidFill>
                  <a:srgbClr val="AAB6C6"/>
                </a:solidFill>
                <a:latin typeface="Arimo"/>
                <a:ea typeface="Arimo"/>
                <a:cs typeface="Arimo"/>
                <a:sym typeface="Arimo"/>
              </a:rPr>
              <a:t> TC12   PASS   JWT alg=none</a:t>
            </a:r>
          </a:p>
          <a:p>
            <a:pPr algn="l">
              <a:lnSpc>
                <a:spcPts val="2137"/>
              </a:lnSpc>
            </a:pPr>
            <a:r>
              <a:rPr lang="en-US" sz="1425">
                <a:solidFill>
                  <a:srgbClr val="AAB6C6"/>
                </a:solidFill>
                <a:latin typeface="Arimo"/>
                <a:ea typeface="Arimo"/>
                <a:cs typeface="Arimo"/>
                <a:sym typeface="Arimo"/>
              </a:rPr>
              <a:t> TC05   PASS   chuoi hash 268 dong, khong vi pham</a:t>
            </a:r>
          </a:p>
          <a:p>
            <a:pPr algn="l">
              <a:lnSpc>
                <a:spcPts val="2137"/>
              </a:lnSpc>
            </a:pPr>
            <a:r>
              <a:rPr lang="en-US" sz="1425">
                <a:solidFill>
                  <a:srgbClr val="AAB6C6"/>
                </a:solidFill>
                <a:latin typeface="Arimo"/>
                <a:ea typeface="Arimo"/>
                <a:cs typeface="Arimo"/>
                <a:sym typeface="Arimo"/>
              </a:rPr>
              <a:t> TC22   PASS   sua diem thang trong DB -&gt; phat hien lech</a:t>
            </a:r>
          </a:p>
          <a:p>
            <a:pPr algn="l">
              <a:lnSpc>
                <a:spcPts val="2137"/>
              </a:lnSpc>
            </a:pPr>
            <a:r>
              <a:rPr lang="en-US" sz="1425">
                <a:solidFill>
                  <a:srgbClr val="AAB6C6"/>
                </a:solidFill>
                <a:latin typeface="Arimo"/>
                <a:ea typeface="Arimo"/>
                <a:cs typeface="Arimo"/>
                <a:sym typeface="Arimo"/>
              </a:rPr>
              <a:t> TC24   PASS   sua audit id 3 -&gt; dut chuoi hash</a:t>
            </a:r>
          </a:p>
          <a:p>
            <a:pPr algn="l">
              <a:lnSpc>
                <a:spcPts val="2137"/>
              </a:lnSpc>
            </a:pPr>
            <a:r>
              <a:rPr lang="en-US" sz="1425">
                <a:solidFill>
                  <a:srgbClr val="AAB6C6"/>
                </a:solidFill>
                <a:latin typeface="Arimo"/>
                <a:ea typeface="Arimo"/>
                <a:cs typeface="Arimo"/>
                <a:sym typeface="Arimo"/>
              </a:rPr>
              <a:t> TC23   PASS   app_user bi tu choi 4 lenh pha hoai</a:t>
            </a:r>
          </a:p>
          <a:p>
            <a:pPr algn="l">
              <a:lnSpc>
                <a:spcPts val="2137"/>
              </a:lnSpc>
            </a:pPr>
            <a:r>
              <a:rPr lang="en-US" sz="1425">
                <a:solidFill>
                  <a:srgbClr val="AAB6C6"/>
                </a:solidFill>
                <a:latin typeface="Arimo"/>
                <a:ea typeface="Arimo"/>
                <a:cs typeface="Arimo"/>
                <a:sym typeface="Arimo"/>
              </a:rPr>
              <a:t> TC19   PASS   SQLi qua WAF -&gt; 403</a:t>
            </a:r>
          </a:p>
          <a:p>
            <a:pPr algn="l">
              <a:lnSpc>
                <a:spcPts val="2137"/>
              </a:lnSpc>
            </a:pPr>
            <a:r>
              <a:rPr lang="en-US" sz="1425">
                <a:solidFill>
                  <a:srgbClr val="AAB6C6"/>
                </a:solidFill>
                <a:latin typeface="Arimo"/>
                <a:ea typeface="Arimo"/>
                <a:cs typeface="Arimo"/>
                <a:sym typeface="Arimo"/>
              </a:rPr>
              <a:t> TC21   PASS   chi waf anh xa port ra host</a:t>
            </a:r>
          </a:p>
          <a:p>
            <a:pPr algn="l">
              <a:lnSpc>
                <a:spcPts val="2137"/>
              </a:lnSpc>
            </a:pPr>
            <a:r>
              <a:rPr lang="en-US" sz="1425">
                <a:solidFill>
                  <a:srgbClr val="AAB6C6"/>
                </a:solidFill>
                <a:latin typeface="Arimo"/>
                <a:ea typeface="Arimo"/>
                <a:cs typeface="Arimo"/>
                <a:sym typeface="Arimo"/>
              </a:rPr>
              <a:t> TC09   PASS   3 lan OTP sai -&gt; khoa, canh bao HIGH</a:t>
            </a:r>
          </a:p>
          <a:p>
            <a:pPr algn="l">
              <a:lnSpc>
                <a:spcPts val="2137"/>
              </a:lnSpc>
            </a:pPr>
            <a:r>
              <a:rPr lang="en-US" sz="1425">
                <a:solidFill>
                  <a:srgbClr val="AAB6C6"/>
                </a:solidFill>
                <a:latin typeface="Arimo"/>
                <a:ea typeface="Arimo"/>
                <a:cs typeface="Arimo"/>
                <a:sym typeface="Arimo"/>
              </a:rPr>
              <a:t> ...</a:t>
            </a:r>
          </a:p>
          <a:p>
            <a:pPr algn="l">
              <a:lnSpc>
                <a:spcPts val="2137"/>
              </a:lnSpc>
            </a:pPr>
          </a:p>
          <a:p>
            <a:pPr algn="l">
              <a:lnSpc>
                <a:spcPts val="2137"/>
              </a:lnSpc>
            </a:pPr>
            <a:r>
              <a:rPr lang="en-US" sz="1425">
                <a:solidFill>
                  <a:srgbClr val="AAB6C6"/>
                </a:solidFill>
                <a:latin typeface="Arimo"/>
                <a:ea typeface="Arimo"/>
                <a:cs typeface="Arimo"/>
                <a:sym typeface="Arimo"/>
              </a:rPr>
              <a:t>25/25 PASS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16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819150"/>
            <a:ext cx="876300" cy="47625"/>
            <a:chOff x="0" y="0"/>
            <a:chExt cx="1168400" cy="63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8400" cy="63500"/>
            </a:xfrm>
            <a:custGeom>
              <a:avLst/>
              <a:gdLst/>
              <a:ahLst/>
              <a:cxnLst/>
              <a:rect r="r" b="b" t="t" l="l"/>
              <a:pathLst>
                <a:path h="635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E5C8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684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764000" y="666750"/>
            <a:ext cx="47625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AAB6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1257300"/>
            <a:ext cx="1047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F4F7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Trade-off có số đo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7750" y="2476500"/>
            <a:ext cx="15621000" cy="3790950"/>
            <a:chOff x="0" y="0"/>
            <a:chExt cx="20828000" cy="50546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0828000" cy="5054600"/>
              <a:chOff x="0" y="0"/>
              <a:chExt cx="20828000" cy="50546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0828000" cy="5054600"/>
              </a:xfrm>
              <a:custGeom>
                <a:avLst/>
                <a:gdLst/>
                <a:ahLst/>
                <a:cxnLst/>
                <a:rect r="r" b="b" t="t" l="l"/>
                <a:pathLst>
                  <a:path h="5054600" w="20828000">
                    <a:moveTo>
                      <a:pt x="0" y="0"/>
                    </a:moveTo>
                    <a:lnTo>
                      <a:pt x="20828000" y="0"/>
                    </a:lnTo>
                    <a:lnTo>
                      <a:pt x="20828000" y="5054600"/>
                    </a:lnTo>
                    <a:lnTo>
                      <a:pt x="0" y="5054600"/>
                    </a:lnTo>
                    <a:close/>
                  </a:path>
                </a:pathLst>
              </a:custGeom>
              <a:solidFill>
                <a:srgbClr val="192A42"/>
              </a:solidFill>
              <a:ln w="9525" cap="sq">
                <a:solidFill>
                  <a:srgbClr val="34465D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0828000" cy="5092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AutoShape 11" id="11"/>
            <p:cNvSpPr/>
            <p:nvPr/>
          </p:nvSpPr>
          <p:spPr>
            <a:xfrm>
              <a:off x="8747760" y="0"/>
              <a:ext cx="0" cy="5054600"/>
            </a:xfrm>
            <a:prstGeom prst="line">
              <a:avLst/>
            </a:prstGeom>
            <a:ln cap="flat" w="12700">
              <a:solidFill>
                <a:srgbClr val="34465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13954760" y="0"/>
              <a:ext cx="0" cy="5054600"/>
            </a:xfrm>
            <a:prstGeom prst="line">
              <a:avLst/>
            </a:prstGeom>
            <a:ln cap="flat" w="12700">
              <a:solidFill>
                <a:srgbClr val="34465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0" y="787400"/>
              <a:ext cx="20828000" cy="0"/>
            </a:xfrm>
            <a:prstGeom prst="line">
              <a:avLst/>
            </a:prstGeom>
            <a:ln cap="flat" w="25400">
              <a:solidFill>
                <a:srgbClr val="2E5C8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0" y="2209800"/>
              <a:ext cx="20828000" cy="0"/>
            </a:xfrm>
            <a:prstGeom prst="line">
              <a:avLst/>
            </a:prstGeom>
            <a:ln cap="flat" w="12700">
              <a:solidFill>
                <a:srgbClr val="34465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0" y="3632200"/>
              <a:ext cx="20828000" cy="0"/>
            </a:xfrm>
            <a:prstGeom prst="line">
              <a:avLst/>
            </a:prstGeom>
            <a:ln cap="flat" w="12700">
              <a:solidFill>
                <a:srgbClr val="34465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6" id="16"/>
            <p:cNvSpPr txBox="true"/>
            <p:nvPr/>
          </p:nvSpPr>
          <p:spPr>
            <a:xfrm rot="0">
              <a:off x="228600" y="177800"/>
              <a:ext cx="829056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2E5C8A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QUYẾT ĐỊNH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8976360" y="177800"/>
              <a:ext cx="47498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2E5C8A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CÁI GIÁ ĐO ĐƯỢC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4183360" y="177800"/>
              <a:ext cx="641604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2E5C8A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NHÓM CHỌN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228600" y="1019175"/>
              <a:ext cx="829056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5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T2 — Step-up OTP mỗi lần sửa điểm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8976360" y="1019175"/>
              <a:ext cx="474980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5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OTP không dùng lại được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4183360" y="1019175"/>
              <a:ext cx="641604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5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Giữ cho prototype · dài hạn sudo mode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28600" y="2441575"/>
              <a:ext cx="829056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5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T5 — WAF Paranoia Level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8976360" y="2441575"/>
              <a:ext cx="474980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5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hợp lệ bị chặn oan (PL1)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4183360" y="2441575"/>
              <a:ext cx="641604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5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PL1 — PL2 chặn oan 1/15, không bắt thêm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228600" y="3863975"/>
              <a:ext cx="829056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5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T7 — Backup hằng ngày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8976360" y="3863975"/>
              <a:ext cx="474980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5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RTO đo được khi khôi phục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4183360" y="3863975"/>
              <a:ext cx="641604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5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Hằng ngày — RPO 24 giờ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7953375" y="3667125"/>
            <a:ext cx="361950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700" strike="noStrike" u="none">
                <a:solidFill>
                  <a:srgbClr val="F4F7F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1 sửa / 30 giây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953375" y="4733925"/>
            <a:ext cx="295275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700" strike="noStrike" u="none">
                <a:solidFill>
                  <a:srgbClr val="F4F7F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0/15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953375" y="5800725"/>
            <a:ext cx="295275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700" strike="noStrike" u="none">
                <a:solidFill>
                  <a:srgbClr val="F4F7F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5–6 giây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819150"/>
            <a:ext cx="876300" cy="47625"/>
            <a:chOff x="0" y="0"/>
            <a:chExt cx="1168400" cy="63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8400" cy="63500"/>
            </a:xfrm>
            <a:custGeom>
              <a:avLst/>
              <a:gdLst/>
              <a:ahLst/>
              <a:cxnLst/>
              <a:rect r="r" b="b" t="t" l="l"/>
              <a:pathLst>
                <a:path h="635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E5C8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684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764000" y="666750"/>
            <a:ext cx="47625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AAB6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1209675"/>
            <a:ext cx="133350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F4F7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Hạn chế và hướng phát triển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7750" y="2143125"/>
            <a:ext cx="15811500" cy="4972050"/>
            <a:chOff x="0" y="0"/>
            <a:chExt cx="21082000" cy="66294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1082000" cy="6629400"/>
              <a:chOff x="0" y="0"/>
              <a:chExt cx="21082000" cy="66294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1082000" cy="6629400"/>
              </a:xfrm>
              <a:custGeom>
                <a:avLst/>
                <a:gdLst/>
                <a:ahLst/>
                <a:cxnLst/>
                <a:rect r="r" b="b" t="t" l="l"/>
                <a:pathLst>
                  <a:path h="6629400" w="21082000">
                    <a:moveTo>
                      <a:pt x="0" y="0"/>
                    </a:moveTo>
                    <a:lnTo>
                      <a:pt x="21082000" y="0"/>
                    </a:lnTo>
                    <a:lnTo>
                      <a:pt x="21082000" y="6629400"/>
                    </a:lnTo>
                    <a:lnTo>
                      <a:pt x="0" y="6629400"/>
                    </a:lnTo>
                    <a:close/>
                  </a:path>
                </a:pathLst>
              </a:custGeom>
              <a:solidFill>
                <a:srgbClr val="192A42"/>
              </a:solidFill>
              <a:ln w="9525" cap="sq">
                <a:solidFill>
                  <a:srgbClr val="34465D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1082000" cy="666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AutoShape 11" id="11"/>
            <p:cNvSpPr/>
            <p:nvPr/>
          </p:nvSpPr>
          <p:spPr>
            <a:xfrm>
              <a:off x="10541000" y="0"/>
              <a:ext cx="0" cy="6629400"/>
            </a:xfrm>
            <a:prstGeom prst="line">
              <a:avLst/>
            </a:prstGeom>
            <a:ln cap="flat" w="12700">
              <a:solidFill>
                <a:srgbClr val="34465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0" y="787400"/>
              <a:ext cx="21082000" cy="0"/>
            </a:xfrm>
            <a:prstGeom prst="line">
              <a:avLst/>
            </a:prstGeom>
            <a:ln cap="flat" w="25400">
              <a:solidFill>
                <a:srgbClr val="2E5C8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0" y="1955800"/>
              <a:ext cx="21082000" cy="0"/>
            </a:xfrm>
            <a:prstGeom prst="line">
              <a:avLst/>
            </a:prstGeom>
            <a:ln cap="flat" w="12700">
              <a:solidFill>
                <a:srgbClr val="34465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0" y="3124200"/>
              <a:ext cx="21082000" cy="0"/>
            </a:xfrm>
            <a:prstGeom prst="line">
              <a:avLst/>
            </a:prstGeom>
            <a:ln cap="flat" w="12700">
              <a:solidFill>
                <a:srgbClr val="34465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0" y="4292600"/>
              <a:ext cx="21082000" cy="0"/>
            </a:xfrm>
            <a:prstGeom prst="line">
              <a:avLst/>
            </a:prstGeom>
            <a:ln cap="flat" w="12700">
              <a:solidFill>
                <a:srgbClr val="34465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>
              <a:off x="0" y="5461000"/>
              <a:ext cx="21082000" cy="0"/>
            </a:xfrm>
            <a:prstGeom prst="line">
              <a:avLst/>
            </a:prstGeom>
            <a:ln cap="flat" w="12700">
              <a:solidFill>
                <a:srgbClr val="34465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7" id="17"/>
            <p:cNvSpPr txBox="true"/>
            <p:nvPr/>
          </p:nvSpPr>
          <p:spPr>
            <a:xfrm rot="0">
              <a:off x="228600" y="177800"/>
              <a:ext cx="100838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2E5C8A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HẠN CHẾ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0769600" y="177800"/>
              <a:ext cx="100838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2E5C8A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HƯỚNG XỬ LÝ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228600" y="1028700"/>
              <a:ext cx="10083800" cy="316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HTTP trong lab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0769600" y="1028700"/>
              <a:ext cx="10083800" cy="316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HTTPS + HSTS + cookie secure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28600" y="2197100"/>
              <a:ext cx="10083800" cy="316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TOTP không chống phishing thời gian thực (AiTM)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0769600" y="2197100"/>
              <a:ext cx="10083800" cy="316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Passkey / WebAuthn — gắn với origin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28600" y="3365500"/>
              <a:ext cx="10083800" cy="316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Superuser DB vẫn tính lại được hash-chain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0769600" y="3365500"/>
              <a:ext cx="10083800" cy="316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SIEM + WORM storage; tạm thời anchor lastHash ra ngoài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228600" y="4533900"/>
              <a:ext cx="10083800" cy="316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mfa_secret lưu dạng rõ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0769600" y="4533900"/>
              <a:ext cx="10083800" cy="316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AES-256-GCM với MFA_ENC_KEY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228600" y="5702300"/>
              <a:ext cx="10083800" cy="316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RPO 24 giờ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0769600" y="5702300"/>
              <a:ext cx="10083800" cy="316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8"/>
                </a:lnSpc>
                <a:spcBef>
                  <a:spcPct val="0"/>
                </a:spcBef>
              </a:pPr>
              <a:r>
                <a:rPr lang="en-US" sz="1575" strike="noStrike" u="none">
                  <a:solidFill>
                    <a:srgbClr val="AAB6C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PITR / WAL archiving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16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819150"/>
            <a:ext cx="876300" cy="47625"/>
            <a:chOff x="0" y="0"/>
            <a:chExt cx="1168400" cy="63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8400" cy="63500"/>
            </a:xfrm>
            <a:custGeom>
              <a:avLst/>
              <a:gdLst/>
              <a:ahLst/>
              <a:cxnLst/>
              <a:rect r="r" b="b" t="t" l="l"/>
              <a:pathLst>
                <a:path h="635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E5C8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684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764000" y="666750"/>
            <a:ext cx="47625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AAB6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1209675"/>
            <a:ext cx="95250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F4F7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Bốn kết luận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2676525"/>
            <a:ext cx="85725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2E5C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33625" y="2581275"/>
            <a:ext cx="15240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b="true" sz="2250" strike="noStrike" u="none">
                <a:solidFill>
                  <a:srgbClr val="F4F7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Mật khẩu bị đánh cắp là không đủ — và để lại cảnh báo có ý nghĩa điều tra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750" y="4057650"/>
            <a:ext cx="85725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2E5C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33625" y="3962400"/>
            <a:ext cx="15240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b="true" sz="2250" strike="noStrike" u="none">
                <a:solidFill>
                  <a:srgbClr val="F4F7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Cookie phiên bị đánh cắp là không đủ — fingerprint phát hiện, step-up OTP chặn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750" y="5438775"/>
            <a:ext cx="85725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2E5C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33625" y="5343525"/>
            <a:ext cx="15240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b="true" sz="2250" strike="noStrike" u="none">
                <a:solidFill>
                  <a:srgbClr val="F4F7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Hệ thống không tin cả DB của chính mình — hash-chain bắt được cả insider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7750" y="6819900"/>
            <a:ext cx="85725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2E5C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33625" y="6724650"/>
            <a:ext cx="15240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b="true" sz="2250" strike="noStrike" u="none">
                <a:solidFill>
                  <a:srgbClr val="F4F7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Defense-in-Depth là thật: bỏ qua WAF, payload SQLi vẫn bị chặn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7750" y="9153525"/>
            <a:ext cx="762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AAB6C6"/>
                </a:solidFill>
                <a:latin typeface="IBM Plex Sans"/>
                <a:ea typeface="IBM Plex Sans"/>
                <a:cs typeface="IBM Plex Sans"/>
                <a:sym typeface="IBM Plex Sans"/>
              </a:rPr>
              <a:t>Xin cảm ơn — mời hỏi đáp.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DAHZY0ytr6Y</dc:identifier>
  <dcterms:modified xsi:type="dcterms:W3CDTF">2011-08-01T06:04:30Z</dcterms:modified>
  <cp:revision>1</cp:revision>
  <dc:title>SecureGrade chống giả mạo</dc:title>
</cp:coreProperties>
</file>