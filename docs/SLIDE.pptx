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giây. Nói ngay câu chốt: “Câu hỏi của đồ án này là — hệ thống dựa vào đâu để tin một thông tin.”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45 giây. Đây là cái móc của cả bài: đừng vội nói về kỹ thuật.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45 giây. Nhấn vào dòng insider: hầu hết đồ án bỏ qua tác nhân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Chèn sơ đồ </a:t>
            </a:r>
            <a:r>
              <a:rPr>
                <a:latin typeface="Courier"/>
              </a:rPr>
              <a:t>01-kien-truc-phan-vung.png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60 giây. Nói hệ quả của D4: có RCE trong app cũng không exfiltrate được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75 giây. Dòng cuối là điểm nhấn: không tin cả DB của mình.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60 giây. Chỉ đọc 4 lớp in đậm, đừng đọc hết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45 giây.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 kịch bản demo ở mục dưới. Nếu máy lỗi: phát video OBS dự phòng.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Chèn ảnh </a:t>
            </a:r>
            <a:r>
              <a:rPr>
                <a:latin typeface="Courier"/>
              </a:rPr>
              <a:t>console.table</a:t>
            </a:r>
            <a:r>
              <a:rPr/>
              <a:t> của run-tests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30 giây.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60 giây. Đây là slide ghi điểm: có số thật, không nói chung chung.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45 giây.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Trang bìa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SecureGrade — Hệ thống nhập điểm chống giả mạo đầu vào</a:t>
            </a:r>
          </a:p>
          <a:p>
            <a:pPr lvl="0"/>
            <a:r>
              <a:rPr/>
              <a:t>Đồ án cuối kỳ: Bảo mật mạng máy tính và hệ thống</a:t>
            </a:r>
          </a:p>
          <a:p>
            <a:pPr lvl="0"/>
            <a:r>
              <a:rPr/>
              <a:t>Hướng 1: Thiết kế hệ thống an toàn</a:t>
            </a:r>
          </a:p>
          <a:p>
            <a:pPr lvl="0"/>
            <a:r>
              <a:rPr/>
              <a:t>Nhóm: </a:t>
            </a:r>
            <a:r>
              <a:rPr i="1"/>
              <a:t>(điền tên nhóm)</a:t>
            </a:r>
          </a:p>
          <a:p>
            <a:pPr lvl="0"/>
            <a:r>
              <a:rPr/>
              <a:t>Thành viên: </a:t>
            </a:r>
            <a:r>
              <a:rPr i="1"/>
              <a:t>(họ tên — MSSV từng người)</a:t>
            </a:r>
          </a:p>
          <a:p>
            <a:pPr lvl="0"/>
            <a:r>
              <a:rPr/>
              <a:t>GVHD: </a:t>
            </a:r>
            <a:r>
              <a:rPr i="1"/>
              <a:t>(điền)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Bài toán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Điểm số là tài sản cần toàn vẹn</a:t>
            </a:r>
          </a:p>
          <a:p>
            <a:pPr lvl="0"/>
            <a:r>
              <a:rPr/>
              <a:t>Điểm quyết định học bổng, cảnh báo học vụ, tốt nghiệp</a:t>
            </a:r>
          </a:p>
          <a:p>
            <a:pPr lvl="0"/>
            <a:r>
              <a:rPr/>
              <a:t>Cổng vào duy nhất để sửa điểm: </a:t>
            </a:r>
            <a:r>
              <a:rPr b="1"/>
              <a:t>tài khoản giảng viên</a:t>
            </a:r>
          </a:p>
          <a:p>
            <a:pPr lvl="0"/>
            <a:r>
              <a:rPr/>
              <a:t>Tình huống thật: giảng viên bị phishing / ClickFix → kẻ tấn công có mật khẩu, hoặc có luôn cookie phiên đang đăng nhập</a:t>
            </a:r>
          </a:p>
          <a:p>
            <a:pPr lvl="0"/>
            <a:r>
              <a:rPr/>
              <a:t>Câu hỏi: </a:t>
            </a:r>
            <a:r>
              <a:rPr b="1"/>
              <a:t>mật khẩu đúng có nghĩa là đúng người không?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Tài sản cần bảo vệ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Bảo vệ cái gì, chống ai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Tài sản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Ưu tiên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A1 Bảng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A2 Tài khoản GV/Admin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Confidentiality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A4 Secret (JWT, TOTP seed, mật khẩu DB)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Confidentiality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A5 Audit log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Integrity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Tác nhân đe dọa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Tác nhân: sinh viên có tài khoản hợp lệ · kẻ phishing bên ngoài · infostealer trên máy GV · </a:t>
            </a:r>
            <a:r>
              <a:rPr b="1"/>
              <a:t>insider có quyền DB</a:t>
            </a:r>
            <a:r>
              <a:rPr/>
              <a:t> · bot dò mật khẩu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Kiến trúc phân vùng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 zone, 4 luồng được phép, 5 luồng bị chặn</a:t>
            </a:r>
          </a:p>
          <a:p>
            <a:pPr lvl="0"/>
            <a:r>
              <a:rPr/>
              <a:t>Chỉ WAF publish port 8080; </a:t>
            </a:r>
            <a:r>
              <a:rPr>
                <a:latin typeface="Courier"/>
              </a:rPr>
              <a:t>app</a:t>
            </a:r>
            <a:r>
              <a:rPr/>
              <a:t> và </a:t>
            </a:r>
            <a:r>
              <a:rPr>
                <a:latin typeface="Courier"/>
              </a:rPr>
              <a:t>db</a:t>
            </a:r>
            <a:r>
              <a:rPr/>
              <a:t> </a:t>
            </a:r>
            <a:r>
              <a:rPr b="1"/>
              <a:t>không có port, không có egress Internet</a:t>
            </a:r>
          </a:p>
          <a:p>
            <a:pPr lvl="0"/>
            <a:r>
              <a:rPr/>
              <a:t>Đã chứng minh bằng lệnh: D1 refused · D2 refused · D3 không resolve được </a:t>
            </a:r>
            <a:r>
              <a:rPr>
                <a:latin typeface="Courier"/>
              </a:rPr>
              <a:t>db</a:t>
            </a:r>
            <a:r>
              <a:rPr/>
              <a:t> · </a:t>
            </a:r>
            <a:r>
              <a:rPr b="1"/>
              <a:t>D4 </a:t>
            </a:r>
            <a:r>
              <a:rPr b="1">
                <a:latin typeface="Courier"/>
              </a:rPr>
              <a:t>app</a:t>
            </a:r>
            <a:r>
              <a:rPr b="1"/>
              <a:t> không gọi được ra Internet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“Không tin mặc định”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Hệ thống dựa vào đâu để tin một thông tin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Thông 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chứng bằng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Mật khẩu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bcrypt + OTP từ </a:t>
                      </a:r>
                      <a:r>
                        <a:rPr b="1"/>
                        <a:t>thiết bị khác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 </a:t>
                      </a:r>
                      <a:r>
                        <a:rPr>
                          <a:latin typeface="Courier"/>
                        </a:rPr>
                        <a:t>role</a:t>
                      </a:r>
                      <a:r>
                        <a:rPr/>
                        <a:t> trong JWT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dùng</a:t>
                      </a:r>
                      <a:r>
                        <a:rPr/>
                        <a:t> — đọc role từ bảng </a:t>
                      </a:r>
                      <a:r>
                        <a:rPr>
                          <a:latin typeface="Courier"/>
                        </a:rPr>
                        <a:t>users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Cookie phiên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Fingerprint + step-up OTP khi sửa điểm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enrollmentId</a:t>
                      </a:r>
                      <a:r>
                        <a:rPr/>
                        <a:t> từ client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Truy vấn ownership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trong DB của chính mình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Hash-chain + đối chiếu điểm với log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 12 lớp kiểm chứng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Một request sửa điểm phải qua 12 cổng</a:t>
            </a:r>
          </a:p>
          <a:p>
            <a:pPr lvl="0" indent="0" marL="0">
              <a:buNone/>
            </a:pPr>
            <a:r>
              <a:rPr/>
              <a:t>WAF → Rate limit → Chữ ký JWT → Session trong DB → Fingerprint → MFA → RBAC → </a:t>
            </a:r>
            <a:r>
              <a:rPr b="1"/>
              <a:t>Step-up OTP</a:t>
            </a:r>
            <a:r>
              <a:rPr/>
              <a:t> → Validation → </a:t>
            </a:r>
            <a:r>
              <a:rPr b="1"/>
              <a:t>Ownership</a:t>
            </a:r>
            <a:r>
              <a:rPr/>
              <a:t> → Parameterized query + quyền DB tối thiểu → </a:t>
            </a:r>
            <a:r>
              <a:rPr b="1"/>
              <a:t>Audit hash-chain cùng transaction</a:t>
            </a:r>
          </a:p>
          <a:p>
            <a:pPr lvl="0"/>
            <a:r>
              <a:rPr/>
              <a:t>Mỗi lớp độc lập: lớp trước thủng thì lớp sau vẫn giữ</a:t>
            </a:r>
          </a:p>
          <a:p>
            <a:pPr lvl="0"/>
            <a:r>
              <a:rPr/>
              <a:t>Audit nằm </a:t>
            </a:r>
            <a:r>
              <a:rPr b="1"/>
              <a:t>cùng transaction</a:t>
            </a:r>
            <a:r>
              <a:rPr/>
              <a:t> với điểm → không có trạng thái “điểm đổi mà không có log”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Top 5 rủi ro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Rủi ro — kiểm soát — bằng chứng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Rủi 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PREVENT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 lộ mật khẩu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 TOTP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MFA_FAIL_THRESHOLD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cắp cookie phiên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Fingerprint + step-up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SESSION_CONTEXT_MISMATCH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TC14, TC15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mạo JWT nâng quyền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Cố định HS256, role từ DB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JWT_INVALID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TC11, TC12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RBAC + ownership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ACCESS_DENIED_IDOR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TC16, TC17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Insider sửa DB, xoá log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audit_log</a:t>
                      </a:r>
                      <a:r>
                        <a:rPr/>
                        <a:t> append-only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Hash-chain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TC22–TC24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Chuyển sang màn hình live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Kết quả kiểm thử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25/25 test case PASS</a:t>
            </a:r>
          </a:p>
          <a:p>
            <a:pPr lvl="0"/>
            <a:r>
              <a:rPr/>
              <a:t>6 test luồng bình thường + 19 test tấn công, chạy tự động: </a:t>
            </a:r>
            <a:r>
              <a:rPr>
                <a:latin typeface="Courier"/>
              </a:rPr>
              <a:t>node tests/run-tests.mjs</a:t>
            </a:r>
          </a:p>
          <a:p>
            <a:pPr lvl="0"/>
            <a:r>
              <a:rPr/>
              <a:t>Bao phủ 6 kịch bản tấn công KB1–KB6</a:t>
            </a:r>
          </a:p>
          <a:p>
            <a:pPr lvl="0"/>
            <a:r>
              <a:rPr/>
              <a:t>Mỗi rủi ro trong ma trận đều trỏ tới ít nhất 1 test case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 (có số đo)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 toàn hơn phải trả bằng tiện lợi — và nhóm đã đo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Quyết định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Cái giá 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chọn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T2 Step-up OTP mỗi lần sửa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OTP không dùng lại được → ~1 lần sửa / 30 giây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cho prototype, dài hạn dùng “sudo mode” 5 phút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T5 WAF Paranoia Level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PL1: 0/15</a:t>
                      </a:r>
                      <a:r>
                        <a:rPr/>
                        <a:t> request hợp lệ bị chặn oan · </a:t>
                      </a:r>
                      <a:r>
                        <a:rPr b="1"/>
                        <a:t>PL2: 1/15</a:t>
                      </a:r>
                      <a:r>
                        <a:rPr/>
                        <a:t> (lý do có dấu </a:t>
                      </a:r>
                      <a:r>
                        <a:rPr>
                          <a:latin typeface="Courier"/>
                        </a:rPr>
                        <a:t>--</a:t>
                      </a:r>
                      <a:r>
                        <a:rPr/>
                        <a:t>), không chặn thêm payload nào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T7 Backup hằng ngày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RPO 24 giờ · </a:t>
                      </a:r>
                      <a:r>
                        <a:rPr b="1"/>
                        <a:t>RTO đo được 5–6 giây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Hằng ngày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Biết mình chưa làm gì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 trong lab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+ HSTS + cookie </a:t>
                      </a:r>
                      <a:r>
                        <a:rPr>
                          <a:latin typeface="Courier"/>
                        </a:rPr>
                        <a:t>secure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TOTP không chống phishing thời gian thực (AiTM)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Passkey/WebAuthn</a:t>
                      </a:r>
                      <a:r>
                        <a:rPr/>
                        <a:t> (gắn với origin)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Superuser DB vẫn tính lại được hash-chain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SIEM + WORM storage; tạm thời: anchor </a:t>
                      </a:r>
                      <a:r>
                        <a:rPr>
                          <a:latin typeface="Courier"/>
                        </a:rPr>
                        <a:t>lastHash</a:t>
                      </a:r>
                      <a:r>
                        <a:rPr/>
                        <a:t> ra ngoài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mfa_secret</a:t>
                      </a:r>
                      <a:r>
                        <a:rPr/>
                        <a:t> lưu dạng rõ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AES-256-GCM với </a:t>
                      </a:r>
                      <a:r>
                        <a:rPr>
                          <a:latin typeface="Courier"/>
                        </a:rPr>
                        <a:t>MFA_ENC_KEY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RPO 24 giờ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PITR / WAL archiving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Bốn kết luận</a:t>
            </a:r>
          </a:p>
          <a:p>
            <a:pPr lvl="0" indent="-342900" marL="342900">
              <a:buAutoNum type="arabicPeriod"/>
            </a:pPr>
            <a:r>
              <a:rPr/>
              <a:t>Mật khẩu bị đánh cắp là </a:t>
            </a:r>
            <a:r>
              <a:rPr b="1"/>
              <a:t>không đủ</a:t>
            </a:r>
            <a:r>
              <a:rPr/>
              <a:t> — và việc đó để lại cảnh báo có ý nghĩa điều tra</a:t>
            </a:r>
          </a:p>
          <a:p>
            <a:pPr lvl="0" indent="-342900" marL="342900">
              <a:buAutoNum type="arabicPeriod"/>
            </a:pPr>
            <a:r>
              <a:rPr/>
              <a:t>Cookie phiên bị đánh cắp là </a:t>
            </a:r>
            <a:r>
              <a:rPr b="1"/>
              <a:t>không đủ</a:t>
            </a:r>
            <a:r>
              <a:rPr/>
              <a:t> — fingerprint phát hiện, step-up OTP chặn</a:t>
            </a:r>
          </a:p>
          <a:p>
            <a:pPr lvl="0" indent="-342900" marL="342900">
              <a:buAutoNum type="arabicPeriod"/>
            </a:pPr>
            <a:r>
              <a:rPr/>
              <a:t>Hệ thống </a:t>
            </a:r>
            <a:r>
              <a:rPr b="1"/>
              <a:t>không tin cả DB của chính mình</a:t>
            </a:r>
            <a:r>
              <a:rPr/>
              <a:t> — hash-chain bắt được cả insider</a:t>
            </a:r>
          </a:p>
          <a:p>
            <a:pPr lvl="0" indent="-342900" marL="342900">
              <a:buAutoNum type="arabicPeriod"/>
            </a:pPr>
            <a:r>
              <a:rPr/>
              <a:t>Defense-in-Depth là thật: bỏ qua WAF, payload SQLi vẫn bị chặn</a:t>
            </a:r>
          </a:p>
          <a:p>
            <a:pPr lvl="0" indent="0" marL="0">
              <a:buNone/>
            </a:pPr>
            <a:r>
              <a:rPr/>
              <a:t>Xin cảm ơn — mời hỏi đáp.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2026-10-28T15:41:55Z</dcterms:created>
  <dcterms:modified xsi:type="dcterms:W3CDTF">2026-10-28T15:41:55Z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