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0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12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18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</p:sldIdLst>
  <p:sldSz cx="18288000" cy="10287000"/>
  <p:notesSz cx="6858000" cy="9144000"/>
  <p:embeddedFontLst>
    <p:embeddedFont>
      <p:font typeface="JetBrains Mono" charset="1" panose="02010509020102050004"/>
      <p:regular r:id="rId21"/>
    </p:embeddedFont>
    <p:embeddedFont>
      <p:font typeface="IBM Plex Sans Bold" charset="1" panose="020B0803050203000203"/>
      <p:regular r:id="rId22"/>
    </p:embeddedFont>
    <p:embeddedFont>
      <p:font typeface="IBM Plex Sans" charset="1" panose="020B0503050203000203"/>
      <p:regular r:id="rId23"/>
    </p:embeddedFont>
    <p:embeddedFont>
      <p:font typeface="JetBrains Mono Bold" charset="1" panose="02010809030102050004"/>
      <p:regular r:id="rId26"/>
    </p:embeddedFont>
    <p:embeddedFont>
      <p:font typeface="Arimo Bold" charset="1" panose="020B0704020202020204"/>
      <p:regular r:id="rId29"/>
    </p:embeddedFont>
    <p:embeddedFont>
      <p:font typeface="Arimo" charset="1" panose="020B0604020202020204"/>
      <p:regular r:id="rId3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notesMasters/notesMaster1.xml" Type="http://schemas.openxmlformats.org/officeDocument/2006/relationships/notesMaster"/><Relationship Id="rId19" Target="theme/theme2.xml" Type="http://schemas.openxmlformats.org/officeDocument/2006/relationships/theme"/><Relationship Id="rId2" Target="presProps.xml" Type="http://schemas.openxmlformats.org/officeDocument/2006/relationships/presProps"/><Relationship Id="rId20" Target="notesSlides/notesSlide1.xml" Type="http://schemas.openxmlformats.org/officeDocument/2006/relationships/notesSlide"/><Relationship Id="rId21" Target="fonts/font21.fntdata" Type="http://schemas.openxmlformats.org/officeDocument/2006/relationships/font"/><Relationship Id="rId22" Target="fonts/font22.fntdata" Type="http://schemas.openxmlformats.org/officeDocument/2006/relationships/font"/><Relationship Id="rId23" Target="fonts/font23.fntdata" Type="http://schemas.openxmlformats.org/officeDocument/2006/relationships/font"/><Relationship Id="rId24" Target="notesSlides/notesSlide2.xml" Type="http://schemas.openxmlformats.org/officeDocument/2006/relationships/notesSlide"/><Relationship Id="rId25" Target="notesSlides/notesSlide3.xml" Type="http://schemas.openxmlformats.org/officeDocument/2006/relationships/notesSlide"/><Relationship Id="rId26" Target="fonts/font26.fntdata" Type="http://schemas.openxmlformats.org/officeDocument/2006/relationships/font"/><Relationship Id="rId27" Target="notesSlides/notesSlide4.xml" Type="http://schemas.openxmlformats.org/officeDocument/2006/relationships/notesSlide"/><Relationship Id="rId28" Target="notesSlides/notesSlide5.xml" Type="http://schemas.openxmlformats.org/officeDocument/2006/relationships/notesSlide"/><Relationship Id="rId29" Target="fonts/font29.fntdata" Type="http://schemas.openxmlformats.org/officeDocument/2006/relationships/font"/><Relationship Id="rId3" Target="viewProps.xml" Type="http://schemas.openxmlformats.org/officeDocument/2006/relationships/viewProps"/><Relationship Id="rId30" Target="notesSlides/notesSlide6.xml" Type="http://schemas.openxmlformats.org/officeDocument/2006/relationships/notesSlide"/><Relationship Id="rId31" Target="notesSlides/notesSlide7.xml" Type="http://schemas.openxmlformats.org/officeDocument/2006/relationships/notesSlide"/><Relationship Id="rId32" Target="notesSlides/notesSlide8.xml" Type="http://schemas.openxmlformats.org/officeDocument/2006/relationships/notesSlide"/><Relationship Id="rId33" Target="notesSlides/notesSlide9.xml" Type="http://schemas.openxmlformats.org/officeDocument/2006/relationships/notesSlide"/><Relationship Id="rId34" Target="fonts/font34.fntdata" Type="http://schemas.openxmlformats.org/officeDocument/2006/relationships/font"/><Relationship Id="rId35" Target="notesSlides/notesSlide10.xml" Type="http://schemas.openxmlformats.org/officeDocument/2006/relationships/notesSlide"/><Relationship Id="rId36" Target="notesSlides/notesSlide11.xml" Type="http://schemas.openxmlformats.org/officeDocument/2006/relationships/notesSlide"/><Relationship Id="rId37" Target="notesSlides/notesSlide12.xml" Type="http://schemas.openxmlformats.org/officeDocument/2006/relationships/notesSlide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.xml" Type="http://schemas.openxmlformats.org/officeDocument/2006/relationships/slide"/></Relationships>
</file>

<file path=ppt/notesSlides/_rels/notesSlide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.xml" Type="http://schemas.openxmlformats.org/officeDocument/2006/relationships/slide"/></Relationships>
</file>

<file path=ppt/notesSlides/_rels/notesSlide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.xml" Type="http://schemas.openxmlformats.org/officeDocument/2006/relationships/slide"/></Relationships>
</file>

<file path=ppt/notesSlides/_rels/notesSlide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.xml" Type="http://schemas.openxmlformats.org/officeDocument/2006/relationships/slide"/></Relationships>
</file>

<file path=ppt/notesSlides/_rels/notesSlide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5.xml" Type="http://schemas.openxmlformats.org/officeDocument/2006/relationships/slide"/></Relationships>
</file>

<file path=ppt/notesSlides/_rels/notesSlide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6.xml" Type="http://schemas.openxmlformats.org/officeDocument/2006/relationships/slide"/></Relationships>
</file>

<file path=ppt/notesSlides/_rels/notesSlide7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7.xml" Type="http://schemas.openxmlformats.org/officeDocument/2006/relationships/slide"/></Relationships>
</file>

<file path=ppt/notesSlides/_rels/notesSlide8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8.xml" Type="http://schemas.openxmlformats.org/officeDocument/2006/relationships/slide"/></Relationships>
</file>

<file path=ppt/notesSlides/_rels/notesSlide9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9.xml" Type="http://schemas.openxmlformats.org/officeDocument/2006/relationships/slide"/></Relationships>
</file>

<file path=ppt/notesSlides/_rels/notesSlide10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0.xml" Type="http://schemas.openxmlformats.org/officeDocument/2006/relationships/slide"/></Relationships>
</file>

<file path=ppt/notesSlides/_rels/notesSlide1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1.xml" Type="http://schemas.openxmlformats.org/officeDocument/2006/relationships/slide"/></Relationships>
</file>

<file path=ppt/notesSlides/_rels/notesSlide1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2.xml" Type="http://schemas.openxmlformats.org/officeDocument/2006/relationships/slide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15 GIÂY. Tên đề tài + câu chốt: "Câu hỏi của đồ án này là — hệ thống dựa vào đâu để tin một thông tin."</a:t>
            </a:r>
          </a:p>
          <a:p>
            <a:r>
              <a:rPr lang="en-US"/>
              <a:t/>
            </a:r>
          </a:p>
          <a:p>
            <a:r>
              <a:rPr lang="en-US"/>
              <a:t>Đừng đọc tên từng thành viên — thầy đã có trong báo cáo.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45 GIÂY. Điểm là tài sản toàn vẹn → cổng vào duy nhất là tài khoản GV → dừng ở câu hỏi lớn.</a:t>
            </a:r>
          </a:p>
          <a:p>
            <a:r>
              <a:rPr lang="en-US"/>
              <a:t/>
            </a:r>
          </a:p>
          <a:p>
            <a:r>
              <a:rPr lang="en-US"/>
              <a:t>THÊM MỘT CÂU (vì slide 3 đã ẩn): "tác nhân nguy hiểm nhất là insider có quyền DB — phần lớn đồ án bỏ qua."</a:t>
            </a:r>
          </a:p>
          <a:p>
            <a:r>
              <a:rPr lang="en-US"/>
              <a:t/>
            </a:r>
          </a:p>
          <a:p>
            <a:r>
              <a:rPr lang="en-US"/>
              <a:t>Đây là cái móc của cả bài: đừng vội nói về kỹ thuật.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ẨN SLIDE NÀY khi trình bày.</a:t>
            </a:r>
          </a:p>
          <a:p>
            <a:r>
              <a:rPr lang="en-US"/>
              <a:t>PowerPoint: chuột phải vào slide ở khung bên trái → Hide Slide.</a:t>
            </a:r>
          </a:p>
          <a:p>
            <a:r>
              <a:rPr lang="en-US"/>
              <a:t/>
            </a:r>
          </a:p>
          <a:p>
            <a:r>
              <a:rPr lang="en-US"/>
              <a:t>Chỉ mở khi thầy hỏi "tài sản nào quan trọng nhất". Nội dung đã gộp một câu vào slide 2.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50 GIÂY. 3 zone · chỉ WAF có port.</a:t>
            </a:r>
          </a:p>
          <a:p>
            <a:r>
              <a:rPr lang="en-US"/>
              <a:t/>
            </a:r>
          </a:p>
          <a:p>
            <a:r>
              <a:rPr lang="en-US"/>
              <a:t>NHẤN D4: app không gọi được ra Internet, nên có RCE trong app cũng không exfiltrate được dữ liệu.</a:t>
            </a:r>
          </a:p>
          <a:p>
            <a:r>
              <a:rPr lang="en-US"/>
              <a:t/>
            </a:r>
          </a:p>
          <a:p>
            <a:r>
              <a:rPr lang="en-US"/>
              <a:t>Đừng đọc hết 5 luồng bị chặn.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70 GIÂY — slide dài nhất, bấm giờ riêng khi tổng duyệt.</a:t>
            </a:r>
          </a:p>
          <a:p>
            <a:r>
              <a:rPr lang="en-US"/>
              <a:t/>
            </a:r>
          </a:p>
          <a:p>
            <a:r>
              <a:rPr lang="en-US"/>
              <a:t>Đọc 5 dòng bảng, dừng lại ở dòng cuối (không tin cả DB của mình).</a:t>
            </a:r>
          </a:p>
          <a:p>
            <a:r>
              <a:rPr lang="en-US"/>
              <a:t/>
            </a:r>
          </a:p>
          <a:p>
            <a:r>
              <a:rPr lang="en-US"/>
              <a:t>THÊM MỘT CÂU (vì slide 6 đã ẩn): "cụ thể hoá thành 12 lớp kiểm chứng, một request sửa điểm phải qua hết."</a:t>
            </a:r>
          </a:p>
          <a:p>
            <a:r>
              <a:rPr lang="en-US"/>
              <a:t/>
            </a:r>
          </a:p>
          <a:p>
            <a:r>
              <a:rPr lang="en-US"/>
              <a:t>DỄ VỠ NGÂN SÁCH: đừng giải thích từng dòng.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ẨN SLIDE NÀY khi trình bày.</a:t>
            </a:r>
          </a:p>
          <a:p>
            <a:r>
              <a:rPr lang="en-US"/>
              <a:t>PowerPoint: chuột phải vào slide ở khung bên trái → Hide Slide.</a:t>
            </a:r>
          </a:p>
          <a:p>
            <a:r>
              <a:rPr lang="en-US"/>
              <a:t/>
            </a:r>
          </a:p>
          <a:p>
            <a:r>
              <a:rPr lang="en-US"/>
              <a:t>Chỉ mở khi thầy hỏi "12 lớp là những lớp nào". Đã nói bằng một câu ở slide 5.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40 GIÂY. Lướt nhanh 4 dòng đầu.</a:t>
            </a:r>
          </a:p>
          <a:p>
            <a:r>
              <a:rPr lang="en-US"/>
              <a:t/>
            </a:r>
          </a:p>
          <a:p>
            <a:r>
              <a:rPr lang="en-US"/>
              <a:t>DỮNG Ở R08: insider sửa DB, audit_log append-only, hash-chain, TC22–TC24. Đây là dòng phân biệt đồ án này với đồ án khác.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5 GIÂY. "Em xin chuyển sang demo trực tiếp."</a:t>
            </a:r>
          </a:p>
          <a:p>
            <a:r>
              <a:rPr lang="en-US"/>
              <a:t/>
            </a:r>
          </a:p>
          <a:p>
            <a:r>
              <a:rPr lang="en-US"/>
              <a:t>DEMO ~3 PHÚT, 2 CẢNH (docs/KICH_BAN_7P.md, lệnh ở docs/LENH_DEMO.txt):</a:t>
            </a:r>
          </a:p>
          <a:p>
            <a:r>
              <a:rPr lang="en-US"/>
              <a:t>  Cảnh 0  0:00–0:15  docker compose ps — chỉ waf có "-&gt;"</a:t>
            </a:r>
          </a:p>
          <a:p>
            <a:r>
              <a:rPr lang="en-US"/>
              <a:t>  Cảnh 1  0:15–1:15  KB2 cookie: curl.exe với $c → SESSION_CONTEXT_MISMATCH → gv01 bị đá ra → CRITICAL</a:t>
            </a:r>
          </a:p>
          <a:p>
            <a:r>
              <a:rPr lang="en-US"/>
              <a:t>  Cảnh 2  1:15–2:35  KB6: toàn vẹn sạch → UPDATE DB → DB=10 / log=8.5 → DELETE bị permission denied</a:t>
            </a:r>
          </a:p>
          <a:p>
            <a:r>
              <a:rPr lang="en-US"/>
              <a:t>  Cảnh 3  2:35–2:50  "25/25 PASS, bốn kịch bản còn lại chạy được ngay"</a:t>
            </a:r>
          </a:p>
          <a:p>
            <a:r>
              <a:rPr lang="en-US"/>
              <a:t/>
            </a:r>
          </a:p>
          <a:p>
            <a:r>
              <a:rPr lang="en-US"/>
              <a:t>NHỚ TRƯỚC KHI BẤM GIỜ:</a:t>
            </a:r>
          </a:p>
          <a:p>
            <a:r>
              <a:rPr lang="en-US"/>
              <a:t>  - đã chạy node scripts/reset-demo.mjs</a:t>
            </a:r>
          </a:p>
          <a:p>
            <a:r>
              <a:rPr lang="en-US"/>
              <a:t>  - admin ở cửa sổ ẨN DANH, gv01 ở cửa sổ THƯỜNG</a:t>
            </a:r>
          </a:p>
          <a:p>
            <a:r>
              <a:rPr lang="en-US"/>
              <a:t>  - cookie gv01 đã cất vào $c, chạy cảnh 1 trong 15 phút</a:t>
            </a:r>
          </a:p>
          <a:p>
            <a:r>
              <a:rPr lang="en-US"/>
              <a:t/>
            </a:r>
          </a:p>
          <a:p>
            <a:r>
              <a:rPr lang="en-US"/>
              <a:t>cls trước mỗi lệnh. Ra kết quả thì DỪNG 3 GIÂY rồi mới nói.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25 GIÂY. 25/25 PASS · 6 luồng bình thường + 19 test tấn công · phủ KB1–KB6.</a:t>
            </a:r>
          </a:p>
          <a:p>
            <a:r>
              <a:rPr lang="en-US"/>
              <a:t/>
            </a:r>
          </a:p>
          <a:p>
            <a:r>
              <a:rPr lang="en-US"/>
              <a:t>Đừng đọc từng dòng trên màn hình — để thầy tự đọc.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50 GIÂY. SLIDE GHI ĐIỂM.</a:t>
            </a:r>
          </a:p>
          <a:p>
            <a:r>
              <a:rPr lang="en-US"/>
              <a:t/>
            </a:r>
          </a:p>
          <a:p>
            <a:r>
              <a:rPr lang="en-US"/>
              <a:t>Chỉ đọc ba con số:</a:t>
            </a:r>
          </a:p>
          <a:p>
            <a:r>
              <a:rPr lang="en-US"/>
              <a:t>  1 sửa / 30 giây</a:t>
            </a:r>
          </a:p>
          <a:p>
            <a:r>
              <a:rPr lang="en-US"/>
              <a:t>  PL1 chặn oan 0/15</a:t>
            </a:r>
          </a:p>
          <a:p>
            <a:r>
              <a:rPr lang="en-US"/>
              <a:t>  RTO 5–6 giây</a:t>
            </a:r>
          </a:p>
          <a:p>
            <a:r>
              <a:rPr lang="en-US"/>
              <a:t/>
            </a:r>
          </a:p>
          <a:p>
            <a:r>
              <a:rPr lang="en-US"/>
              <a:t>DỄ VỠ NGÂN SÁCH: đừng kể quá trình đo, chỉ đọc kết quả.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25 GIÂY. Đọc nhanh đúng 2 dòng:</a:t>
            </a:r>
          </a:p>
          <a:p>
            <a:r>
              <a:rPr lang="en-US"/>
              <a:t>  TOTP không chống AiTM → Passkey/WebAuthn</a:t>
            </a:r>
          </a:p>
          <a:p>
            <a:r>
              <a:rPr lang="en-US"/>
              <a:t>  Superuser DB vẫn tính lại được hash-chain → SIEM + WORM</a:t>
            </a:r>
          </a:p>
          <a:p>
            <a:r>
              <a:rPr lang="en-US"/>
              <a:t/>
            </a:r>
          </a:p>
          <a:p>
            <a:r>
              <a:rPr lang="en-US"/>
              <a:t>DỄ VỠ NGÂN SÁCH: đừng xin lỗi dài dòng.</a:t>
            </a:r>
          </a:p>
          <a:p>
            <a:r>
              <a:rPr lang="en-US"/>
              <a:t>Nếu phần nói đã quá 6:30 thì cắt slide này còn 15 giây.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30 GIÂY. Bốn câu, đọc chậm, dừng lại sau câu 3. Rồi mời hỏi đáp.</a:t>
            </a:r>
          </a:p>
          <a:p>
            <a:r>
              <a:rPr lang="en-US"/>
              <a:t/>
            </a:r>
          </a:p>
          <a:p>
            <a:r>
              <a:rPr lang="en-US"/>
              <a:t>TỔNG PHẦN NÓI: 5 phút 55 — dư 65 giây so với khung 7 phút.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.xml" Type="http://schemas.openxmlformats.org/officeDocument/2006/relationships/notesSlid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.xml" Type="http://schemas.openxmlformats.org/officeDocument/2006/relationships/notesSlid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3.xml" Type="http://schemas.openxmlformats.org/officeDocument/2006/relationships/notesSlid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4.xml" Type="http://schemas.openxmlformats.org/officeDocument/2006/relationships/notesSlide"/><Relationship Id="rId3" Target="../media/image1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5.xml" Type="http://schemas.openxmlformats.org/officeDocument/2006/relationships/notesSlid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6.xml" Type="http://schemas.openxmlformats.org/officeDocument/2006/relationships/notesSlid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7.xml" Type="http://schemas.openxmlformats.org/officeDocument/2006/relationships/notesSlid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8.xml" Type="http://schemas.openxmlformats.org/officeDocument/2006/relationships/notesSlid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9.xml" Type="http://schemas.openxmlformats.org/officeDocument/2006/relationships/notesSlid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0.xml" Type="http://schemas.openxmlformats.org/officeDocument/2006/relationships/notesSlid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1.xml" Type="http://schemas.openxmlformats.org/officeDocument/2006/relationships/notesSlid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2.xml" Type="http://schemas.openxmlformats.org/officeDocument/2006/relationships/notesSlide"/></Relationships>
</file>

<file path=ppt/slides/slide1.xml><?xml version="1.0" encoding="utf-8"?>
<p:sld xmlns:p="http://schemas.openxmlformats.org/presentationml/2006/main" xmlns:a="http://schemas.openxmlformats.org/drawingml/2006/main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47750" y="819150"/>
            <a:ext cx="876300" cy="47625"/>
            <a:chOff x="0" y="0"/>
            <a:chExt cx="1168400" cy="635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68400" cy="63500"/>
            </a:xfrm>
            <a:custGeom>
              <a:avLst/>
              <a:gdLst/>
              <a:ahLst/>
              <a:cxnLst/>
              <a:rect r="r" b="b" t="t" l="l"/>
              <a:pathLst>
                <a:path h="63500" w="1168400">
                  <a:moveTo>
                    <a:pt x="0" y="0"/>
                  </a:moveTo>
                  <a:lnTo>
                    <a:pt x="1168400" y="0"/>
                  </a:lnTo>
                  <a:lnTo>
                    <a:pt x="1168400" y="63500"/>
                  </a:lnTo>
                  <a:lnTo>
                    <a:pt x="0" y="63500"/>
                  </a:lnTo>
                  <a:close/>
                </a:path>
              </a:pathLst>
            </a:custGeom>
            <a:solidFill>
              <a:srgbClr val="2E5C8A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168400" cy="10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6764000" y="666750"/>
            <a:ext cx="476250" cy="222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350">
                <a:solidFill>
                  <a:srgbClr val="8A98A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01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4097000" y="1619250"/>
            <a:ext cx="4191000" cy="8667750"/>
            <a:chOff x="0" y="0"/>
            <a:chExt cx="5588000" cy="115570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5588000" cy="11557000"/>
            </a:xfrm>
            <a:custGeom>
              <a:avLst/>
              <a:gdLst/>
              <a:ahLst/>
              <a:cxnLst/>
              <a:rect r="r" b="b" t="t" l="l"/>
              <a:pathLst>
                <a:path h="11557000" w="5588000">
                  <a:moveTo>
                    <a:pt x="0" y="0"/>
                  </a:moveTo>
                  <a:lnTo>
                    <a:pt x="5588000" y="0"/>
                  </a:lnTo>
                  <a:lnTo>
                    <a:pt x="5588000" y="11557000"/>
                  </a:lnTo>
                  <a:lnTo>
                    <a:pt x="0" y="11557000"/>
                  </a:lnTo>
                  <a:close/>
                </a:path>
              </a:pathLst>
            </a:custGeom>
            <a:solidFill>
              <a:srgbClr val="2E5C8A">
                <a:alpha val="9804"/>
              </a:srgbClr>
            </a:solidFill>
            <a:ln cap="sq">
              <a:noFill/>
              <a:prstDash val="solid"/>
              <a:miter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5588000" cy="11595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1047750" y="2057400"/>
            <a:ext cx="11430000" cy="16421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439"/>
              </a:lnSpc>
            </a:pPr>
            <a:r>
              <a:rPr lang="en-US" sz="9600" b="true">
                <a:solidFill>
                  <a:srgbClr val="1B2A3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SecureGrade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047750" y="3790950"/>
            <a:ext cx="9334500" cy="11555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36"/>
              </a:lnSpc>
            </a:pPr>
            <a:r>
              <a:rPr lang="en-US" sz="4050">
                <a:solidFill>
                  <a:srgbClr val="2E5C8A"/>
                </a:solidFill>
                <a:latin typeface="IBM Plex Sans"/>
                <a:ea typeface="IBM Plex Sans"/>
                <a:cs typeface="IBM Plex Sans"/>
                <a:sym typeface="IBM Plex Sans"/>
              </a:rPr>
              <a:t>Hệ thống nhập điểm</a:t>
            </a:r>
          </a:p>
          <a:p>
            <a:pPr algn="l">
              <a:lnSpc>
                <a:spcPts val="4536"/>
              </a:lnSpc>
            </a:pPr>
            <a:r>
              <a:rPr lang="en-US" sz="4050">
                <a:solidFill>
                  <a:srgbClr val="2E5C8A"/>
                </a:solidFill>
                <a:latin typeface="IBM Plex Sans"/>
                <a:ea typeface="IBM Plex Sans"/>
                <a:cs typeface="IBM Plex Sans"/>
                <a:sym typeface="IBM Plex Sans"/>
              </a:rPr>
              <a:t>chống giả mạo đầu vào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047750" y="5347212"/>
            <a:ext cx="10953750" cy="34930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099"/>
              </a:lnSpc>
              <a:spcBef>
                <a:spcPct val="0"/>
              </a:spcBef>
            </a:pPr>
            <a:r>
              <a:rPr lang="en-US" sz="1999" strike="noStrike" u="none">
                <a:solidFill>
                  <a:srgbClr val="3C4A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Đồ án cuối kỳ — Bảo mật mạng máy tính và hệ thống</a:t>
            </a:r>
          </a:p>
          <a:p>
            <a:pPr algn="l" marL="0" indent="0" lvl="0">
              <a:lnSpc>
                <a:spcPts val="3099"/>
              </a:lnSpc>
              <a:spcBef>
                <a:spcPct val="0"/>
              </a:spcBef>
            </a:pPr>
            <a:r>
              <a:rPr lang="en-US" sz="1999" strike="noStrike" u="none">
                <a:solidFill>
                  <a:srgbClr val="3C4A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Hướng 1: Thiết kế hệ thống an toàn</a:t>
            </a:r>
          </a:p>
          <a:p>
            <a:pPr algn="l" marL="0" indent="0" lvl="0">
              <a:lnSpc>
                <a:spcPts val="3099"/>
              </a:lnSpc>
              <a:spcBef>
                <a:spcPct val="0"/>
              </a:spcBef>
            </a:pPr>
          </a:p>
          <a:p>
            <a:pPr algn="l" marL="0" indent="0" lvl="0">
              <a:lnSpc>
                <a:spcPts val="3099"/>
              </a:lnSpc>
              <a:spcBef>
                <a:spcPct val="0"/>
              </a:spcBef>
            </a:pPr>
            <a:r>
              <a:rPr lang="en-US" sz="1999" strike="noStrike" u="none">
                <a:solidFill>
                  <a:srgbClr val="3C4A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Nhóm: 5</a:t>
            </a:r>
          </a:p>
          <a:p>
            <a:pPr algn="l" marL="0" indent="0" lvl="0">
              <a:lnSpc>
                <a:spcPts val="3099"/>
              </a:lnSpc>
              <a:spcBef>
                <a:spcPct val="0"/>
              </a:spcBef>
            </a:pPr>
            <a:r>
              <a:rPr lang="en-US" sz="1999" strike="noStrike" u="none">
                <a:solidFill>
                  <a:srgbClr val="3C4A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Thành viên: Trần Trung Hiếu    1150080052</a:t>
            </a:r>
          </a:p>
          <a:p>
            <a:pPr algn="l" marL="0" indent="0" lvl="0">
              <a:lnSpc>
                <a:spcPts val="3099"/>
              </a:lnSpc>
              <a:spcBef>
                <a:spcPct val="0"/>
              </a:spcBef>
            </a:pPr>
            <a:r>
              <a:rPr lang="en-US" sz="1999" strike="noStrike" u="none">
                <a:solidFill>
                  <a:srgbClr val="3C4A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          Lưu Gia Luân       1150080060</a:t>
            </a:r>
          </a:p>
          <a:p>
            <a:pPr algn="l" marL="0" indent="0" lvl="0">
              <a:lnSpc>
                <a:spcPts val="3099"/>
              </a:lnSpc>
              <a:spcBef>
                <a:spcPct val="0"/>
              </a:spcBef>
            </a:pPr>
            <a:r>
              <a:rPr lang="en-US" sz="1999" strike="noStrike" u="none">
                <a:solidFill>
                  <a:srgbClr val="3C4A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          Lương Hào Minh     1150080066</a:t>
            </a:r>
          </a:p>
          <a:p>
            <a:pPr algn="l" marL="0" indent="0" lvl="0">
              <a:lnSpc>
                <a:spcPts val="3099"/>
              </a:lnSpc>
              <a:spcBef>
                <a:spcPct val="0"/>
              </a:spcBef>
            </a:pPr>
            <a:r>
              <a:rPr lang="en-US" sz="1999" strike="noStrike" u="none">
                <a:solidFill>
                  <a:srgbClr val="3C4A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          Trần Hồ Quang Vinh 1150080082</a:t>
            </a:r>
          </a:p>
          <a:p>
            <a:pPr algn="l" marL="0" indent="0" lvl="0">
              <a:lnSpc>
                <a:spcPts val="3099"/>
              </a:lnSpc>
              <a:spcBef>
                <a:spcPct val="0"/>
              </a:spcBef>
            </a:pPr>
            <a:r>
              <a:rPr lang="en-US" sz="1999" strike="noStrike" u="none">
                <a:solidFill>
                  <a:srgbClr val="3C4A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GVHD: Th.S Hà Châu Hoàng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bg>
      <p:bgPr>
        <a:solidFill>
          <a:srgbClr val="ED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47750" y="819150"/>
            <a:ext cx="876300" cy="47625"/>
            <a:chOff x="0" y="0"/>
            <a:chExt cx="1168400" cy="635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68400" cy="63500"/>
            </a:xfrm>
            <a:custGeom>
              <a:avLst/>
              <a:gdLst/>
              <a:ahLst/>
              <a:cxnLst/>
              <a:rect r="r" b="b" t="t" l="l"/>
              <a:pathLst>
                <a:path h="63500" w="1168400">
                  <a:moveTo>
                    <a:pt x="0" y="0"/>
                  </a:moveTo>
                  <a:lnTo>
                    <a:pt x="1168400" y="0"/>
                  </a:lnTo>
                  <a:lnTo>
                    <a:pt x="1168400" y="63500"/>
                  </a:lnTo>
                  <a:lnTo>
                    <a:pt x="0" y="63500"/>
                  </a:lnTo>
                  <a:close/>
                </a:path>
              </a:pathLst>
            </a:custGeom>
            <a:solidFill>
              <a:srgbClr val="2E5C8A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168400" cy="10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6764000" y="666750"/>
            <a:ext cx="476250" cy="222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350">
                <a:solidFill>
                  <a:srgbClr val="8A98A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02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47750" y="1485900"/>
            <a:ext cx="9906000" cy="14919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32"/>
              </a:lnSpc>
            </a:pPr>
            <a:r>
              <a:rPr lang="en-US" sz="5400" b="true">
                <a:solidFill>
                  <a:srgbClr val="1B2A3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Điểm số là tài sản</a:t>
            </a:r>
          </a:p>
          <a:p>
            <a:pPr algn="l">
              <a:lnSpc>
                <a:spcPts val="5832"/>
              </a:lnSpc>
            </a:pPr>
            <a:r>
              <a:rPr lang="en-US" sz="5400" b="true">
                <a:solidFill>
                  <a:srgbClr val="1B2A3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cần toàn vẹn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47750" y="3676650"/>
            <a:ext cx="14287500" cy="10553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835"/>
              </a:lnSpc>
              <a:spcBef>
                <a:spcPct val="0"/>
              </a:spcBef>
            </a:pPr>
            <a:r>
              <a:rPr lang="en-US" sz="2100" strike="noStrike" u="none">
                <a:solidFill>
                  <a:srgbClr val="3C4A5C"/>
                </a:solidFill>
                <a:latin typeface="IBM Plex Sans"/>
                <a:ea typeface="IBM Plex Sans"/>
                <a:cs typeface="IBM Plex Sans"/>
                <a:sym typeface="IBM Plex Sans"/>
              </a:rPr>
              <a:t>Điểm quyết định học bổng, cảnh báo học vụ, tốt nghiệp. Cổng vào duy nhất để sửa điểm là tài khoản giảng viên.</a:t>
            </a:r>
          </a:p>
          <a:p>
            <a:pPr algn="l" marL="0" indent="0" lvl="0">
              <a:lnSpc>
                <a:spcPts val="2835"/>
              </a:lnSpc>
              <a:spcBef>
                <a:spcPct val="0"/>
              </a:spcBef>
            </a:pPr>
          </a:p>
          <a:p>
            <a:pPr algn="l" marL="0" indent="0" lvl="0">
              <a:lnSpc>
                <a:spcPts val="2835"/>
              </a:lnSpc>
              <a:spcBef>
                <a:spcPct val="0"/>
              </a:spcBef>
            </a:pPr>
            <a:r>
              <a:rPr lang="en-US" sz="2100" strike="noStrike" u="none">
                <a:solidFill>
                  <a:srgbClr val="3C4A5C"/>
                </a:solidFill>
                <a:latin typeface="IBM Plex Sans"/>
                <a:ea typeface="IBM Plex Sans"/>
                <a:cs typeface="IBM Plex Sans"/>
                <a:sym typeface="IBM Plex Sans"/>
              </a:rPr>
              <a:t>Tình huống thật: giảng viên bị phishing / ClickFix → kẻ tấn công có mật khẩu, hoặc có luôn cookie phiên đang đăng nhập.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1047750" y="5619750"/>
            <a:ext cx="12001500" cy="28575"/>
            <a:chOff x="0" y="0"/>
            <a:chExt cx="16002000" cy="381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6002000" cy="38100"/>
            </a:xfrm>
            <a:custGeom>
              <a:avLst/>
              <a:gdLst/>
              <a:ahLst/>
              <a:cxnLst/>
              <a:rect r="r" b="b" t="t" l="l"/>
              <a:pathLst>
                <a:path h="38100" w="16002000">
                  <a:moveTo>
                    <a:pt x="0" y="0"/>
                  </a:moveTo>
                  <a:lnTo>
                    <a:pt x="16002000" y="0"/>
                  </a:lnTo>
                  <a:lnTo>
                    <a:pt x="16002000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C0392B"/>
            </a:solidFill>
            <a:ln cap="sq">
              <a:noFill/>
              <a:prstDash val="solid"/>
              <a:miter/>
            </a:ln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16002000" cy="762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1047750" y="6191250"/>
            <a:ext cx="15049500" cy="5909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602"/>
              </a:lnSpc>
              <a:spcBef>
                <a:spcPct val="0"/>
              </a:spcBef>
            </a:pPr>
            <a:r>
              <a:rPr lang="en-US" b="true" sz="3900" strike="noStrike" u="none">
                <a:solidFill>
                  <a:srgbClr val="1B2A3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Mật khẩu đúng có nghĩa là đúng người không?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show="false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47750" y="819150"/>
            <a:ext cx="876300" cy="47625"/>
            <a:chOff x="0" y="0"/>
            <a:chExt cx="1168400" cy="635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68400" cy="63500"/>
            </a:xfrm>
            <a:custGeom>
              <a:avLst/>
              <a:gdLst/>
              <a:ahLst/>
              <a:cxnLst/>
              <a:rect r="r" b="b" t="t" l="l"/>
              <a:pathLst>
                <a:path h="63500" w="1168400">
                  <a:moveTo>
                    <a:pt x="0" y="0"/>
                  </a:moveTo>
                  <a:lnTo>
                    <a:pt x="1168400" y="0"/>
                  </a:lnTo>
                  <a:lnTo>
                    <a:pt x="1168400" y="63500"/>
                  </a:lnTo>
                  <a:lnTo>
                    <a:pt x="0" y="63500"/>
                  </a:lnTo>
                  <a:close/>
                </a:path>
              </a:pathLst>
            </a:custGeom>
            <a:solidFill>
              <a:srgbClr val="2E5C8A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168400" cy="10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6764000" y="666750"/>
            <a:ext cx="476250" cy="222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350">
                <a:solidFill>
                  <a:srgbClr val="8A98A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03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47750" y="1352550"/>
            <a:ext cx="11430000" cy="6637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84"/>
              </a:lnSpc>
            </a:pPr>
            <a:r>
              <a:rPr lang="en-US" sz="4800" b="true">
                <a:solidFill>
                  <a:srgbClr val="1B2A3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Bảo vệ cái gì, chống ai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1047750" y="2381250"/>
            <a:ext cx="12573000" cy="4857750"/>
            <a:chOff x="0" y="0"/>
            <a:chExt cx="16764000" cy="6477000"/>
          </a:xfrm>
        </p:grpSpPr>
        <p:grpSp>
          <p:nvGrpSpPr>
            <p:cNvPr name="Group 8" id="8"/>
            <p:cNvGrpSpPr/>
            <p:nvPr/>
          </p:nvGrpSpPr>
          <p:grpSpPr>
            <a:xfrm rot="0">
              <a:off x="0" y="0"/>
              <a:ext cx="16764000" cy="6477000"/>
              <a:chOff x="0" y="0"/>
              <a:chExt cx="16764000" cy="6477000"/>
            </a:xfrm>
          </p:grpSpPr>
          <p:sp>
            <p:nvSpPr>
              <p:cNvPr name="Freeform 9" id="9"/>
              <p:cNvSpPr/>
              <p:nvPr/>
            </p:nvSpPr>
            <p:spPr>
              <a:xfrm flipH="false" flipV="false" rot="0">
                <a:off x="0" y="0"/>
                <a:ext cx="16764000" cy="6477000"/>
              </a:xfrm>
              <a:custGeom>
                <a:avLst/>
                <a:gdLst/>
                <a:ahLst/>
                <a:cxnLst/>
                <a:rect r="r" b="b" t="t" l="l"/>
                <a:pathLst>
                  <a:path h="6477000" w="16764000">
                    <a:moveTo>
                      <a:pt x="0" y="0"/>
                    </a:moveTo>
                    <a:lnTo>
                      <a:pt x="16764000" y="0"/>
                    </a:lnTo>
                    <a:lnTo>
                      <a:pt x="16764000" y="6477000"/>
                    </a:lnTo>
                    <a:lnTo>
                      <a:pt x="0" y="647700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sq">
                <a:solidFill>
                  <a:srgbClr val="D4DCE6"/>
                </a:solidFill>
                <a:prstDash val="solid"/>
                <a:miter/>
              </a:ln>
            </p:spPr>
          </p:sp>
          <p:sp>
            <p:nvSpPr>
              <p:cNvPr name="TextBox 10" id="10"/>
              <p:cNvSpPr txBox="true"/>
              <p:nvPr/>
            </p:nvSpPr>
            <p:spPr>
              <a:xfrm>
                <a:off x="0" y="-38100"/>
                <a:ext cx="16764000" cy="65151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sp>
          <p:nvSpPr>
            <p:cNvPr name="AutoShape 11" id="11"/>
            <p:cNvSpPr/>
            <p:nvPr/>
          </p:nvSpPr>
          <p:spPr>
            <a:xfrm>
              <a:off x="11734800" y="0"/>
              <a:ext cx="0" cy="6477000"/>
            </a:xfrm>
            <a:prstGeom prst="line">
              <a:avLst/>
            </a:prstGeom>
            <a:ln cap="flat" w="12700">
              <a:solidFill>
                <a:srgbClr val="D4DCE6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2" id="12"/>
            <p:cNvSpPr/>
            <p:nvPr/>
          </p:nvSpPr>
          <p:spPr>
            <a:xfrm>
              <a:off x="0" y="787400"/>
              <a:ext cx="16764000" cy="0"/>
            </a:xfrm>
            <a:prstGeom prst="line">
              <a:avLst/>
            </a:prstGeom>
            <a:ln cap="flat" w="25400">
              <a:solidFill>
                <a:srgbClr val="2E5C8A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3" id="13"/>
            <p:cNvSpPr/>
            <p:nvPr/>
          </p:nvSpPr>
          <p:spPr>
            <a:xfrm>
              <a:off x="0" y="2209800"/>
              <a:ext cx="16764000" cy="0"/>
            </a:xfrm>
            <a:prstGeom prst="line">
              <a:avLst/>
            </a:prstGeom>
            <a:ln cap="flat" w="12700">
              <a:solidFill>
                <a:srgbClr val="D4DCE6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4" id="14"/>
            <p:cNvSpPr/>
            <p:nvPr/>
          </p:nvSpPr>
          <p:spPr>
            <a:xfrm>
              <a:off x="0" y="3632200"/>
              <a:ext cx="16764000" cy="0"/>
            </a:xfrm>
            <a:prstGeom prst="line">
              <a:avLst/>
            </a:prstGeom>
            <a:ln cap="flat" w="12700">
              <a:solidFill>
                <a:srgbClr val="D4DCE6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5" id="15"/>
            <p:cNvSpPr/>
            <p:nvPr/>
          </p:nvSpPr>
          <p:spPr>
            <a:xfrm>
              <a:off x="0" y="5054600"/>
              <a:ext cx="16764000" cy="0"/>
            </a:xfrm>
            <a:prstGeom prst="line">
              <a:avLst/>
            </a:prstGeom>
            <a:ln cap="flat" w="12700">
              <a:solidFill>
                <a:srgbClr val="D4DCE6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TextBox 16" id="16"/>
            <p:cNvSpPr txBox="true"/>
            <p:nvPr/>
          </p:nvSpPr>
          <p:spPr>
            <a:xfrm rot="0">
              <a:off x="228600" y="177800"/>
              <a:ext cx="11277600" cy="36322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310"/>
                </a:lnSpc>
              </a:pPr>
              <a:r>
                <a:rPr lang="en-US" sz="1650" b="true">
                  <a:solidFill>
                    <a:srgbClr val="2E5C8A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TÀI SẢN</a:t>
              </a:r>
            </a:p>
          </p:txBody>
        </p:sp>
        <p:sp>
          <p:nvSpPr>
            <p:cNvPr name="TextBox 17" id="17"/>
            <p:cNvSpPr txBox="true"/>
            <p:nvPr/>
          </p:nvSpPr>
          <p:spPr>
            <a:xfrm rot="0">
              <a:off x="11963400" y="177800"/>
              <a:ext cx="4572000" cy="36322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310"/>
                </a:lnSpc>
              </a:pPr>
              <a:r>
                <a:rPr lang="en-US" sz="1650" b="true">
                  <a:solidFill>
                    <a:srgbClr val="2E5C8A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ƯU TIÊN</a:t>
              </a:r>
            </a:p>
          </p:txBody>
        </p:sp>
        <p:sp>
          <p:nvSpPr>
            <p:cNvPr name="TextBox 18" id="18"/>
            <p:cNvSpPr txBox="true"/>
            <p:nvPr/>
          </p:nvSpPr>
          <p:spPr>
            <a:xfrm rot="0">
              <a:off x="228600" y="1019175"/>
              <a:ext cx="11277600" cy="37528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250"/>
                </a:lnSpc>
                <a:spcBef>
                  <a:spcPct val="0"/>
                </a:spcBef>
              </a:pPr>
              <a:r>
                <a:rPr lang="en-US" sz="1800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A1 — Bảng điểm</a:t>
              </a:r>
            </a:p>
          </p:txBody>
        </p:sp>
        <p:sp>
          <p:nvSpPr>
            <p:cNvPr name="TextBox 19" id="19"/>
            <p:cNvSpPr txBox="true"/>
            <p:nvPr/>
          </p:nvSpPr>
          <p:spPr>
            <a:xfrm rot="0">
              <a:off x="11963400" y="1019175"/>
              <a:ext cx="4572000" cy="37528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250"/>
                </a:lnSpc>
                <a:spcBef>
                  <a:spcPct val="0"/>
                </a:spcBef>
              </a:pPr>
              <a:r>
                <a:rPr lang="en-US" sz="1800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Integrity</a:t>
              </a:r>
            </a:p>
          </p:txBody>
        </p:sp>
        <p:sp>
          <p:nvSpPr>
            <p:cNvPr name="TextBox 20" id="20"/>
            <p:cNvSpPr txBox="true"/>
            <p:nvPr/>
          </p:nvSpPr>
          <p:spPr>
            <a:xfrm rot="0">
              <a:off x="228600" y="2441575"/>
              <a:ext cx="11277600" cy="37528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250"/>
                </a:lnSpc>
                <a:spcBef>
                  <a:spcPct val="0"/>
                </a:spcBef>
              </a:pPr>
              <a:r>
                <a:rPr lang="en-US" sz="1800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A2 — Tài khoản GV / Admin</a:t>
              </a:r>
            </a:p>
          </p:txBody>
        </p:sp>
        <p:sp>
          <p:nvSpPr>
            <p:cNvPr name="TextBox 21" id="21"/>
            <p:cNvSpPr txBox="true"/>
            <p:nvPr/>
          </p:nvSpPr>
          <p:spPr>
            <a:xfrm rot="0">
              <a:off x="11963400" y="2441575"/>
              <a:ext cx="4572000" cy="37528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250"/>
                </a:lnSpc>
                <a:spcBef>
                  <a:spcPct val="0"/>
                </a:spcBef>
              </a:pPr>
              <a:r>
                <a:rPr lang="en-US" sz="1800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Confidentiality</a:t>
              </a:r>
            </a:p>
          </p:txBody>
        </p:sp>
        <p:sp>
          <p:nvSpPr>
            <p:cNvPr name="TextBox 22" id="22"/>
            <p:cNvSpPr txBox="true"/>
            <p:nvPr/>
          </p:nvSpPr>
          <p:spPr>
            <a:xfrm rot="0">
              <a:off x="228600" y="3863975"/>
              <a:ext cx="11277600" cy="37528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250"/>
                </a:lnSpc>
                <a:spcBef>
                  <a:spcPct val="0"/>
                </a:spcBef>
              </a:pPr>
              <a:r>
                <a:rPr lang="en-US" sz="1800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A4 — Secret: JWT, TOTP seed, mật khẩu DB</a:t>
              </a:r>
            </a:p>
          </p:txBody>
        </p:sp>
        <p:sp>
          <p:nvSpPr>
            <p:cNvPr name="TextBox 23" id="23"/>
            <p:cNvSpPr txBox="true"/>
            <p:nvPr/>
          </p:nvSpPr>
          <p:spPr>
            <a:xfrm rot="0">
              <a:off x="11963400" y="3863975"/>
              <a:ext cx="4572000" cy="37528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250"/>
                </a:lnSpc>
                <a:spcBef>
                  <a:spcPct val="0"/>
                </a:spcBef>
              </a:pPr>
              <a:r>
                <a:rPr lang="en-US" sz="1800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Confidentiality</a:t>
              </a:r>
            </a:p>
          </p:txBody>
        </p:sp>
        <p:sp>
          <p:nvSpPr>
            <p:cNvPr name="TextBox 24" id="24"/>
            <p:cNvSpPr txBox="true"/>
            <p:nvPr/>
          </p:nvSpPr>
          <p:spPr>
            <a:xfrm rot="0">
              <a:off x="228600" y="5286375"/>
              <a:ext cx="11277600" cy="37528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250"/>
                </a:lnSpc>
                <a:spcBef>
                  <a:spcPct val="0"/>
                </a:spcBef>
              </a:pPr>
              <a:r>
                <a:rPr lang="en-US" sz="1800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A5 — Audit log</a:t>
              </a:r>
            </a:p>
          </p:txBody>
        </p:sp>
        <p:sp>
          <p:nvSpPr>
            <p:cNvPr name="TextBox 25" id="25"/>
            <p:cNvSpPr txBox="true"/>
            <p:nvPr/>
          </p:nvSpPr>
          <p:spPr>
            <a:xfrm rot="0">
              <a:off x="11963400" y="5286375"/>
              <a:ext cx="4572000" cy="37528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250"/>
                </a:lnSpc>
                <a:spcBef>
                  <a:spcPct val="0"/>
                </a:spcBef>
              </a:pPr>
              <a:r>
                <a:rPr lang="en-US" sz="1800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Integrity</a:t>
              </a:r>
            </a:p>
          </p:txBody>
        </p:sp>
      </p:grpSp>
      <p:sp>
        <p:nvSpPr>
          <p:cNvPr name="TextBox 26" id="26"/>
          <p:cNvSpPr txBox="true"/>
          <p:nvPr/>
        </p:nvSpPr>
        <p:spPr>
          <a:xfrm rot="0">
            <a:off x="1047750" y="8486775"/>
            <a:ext cx="16002000" cy="306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520"/>
              </a:lnSpc>
              <a:spcBef>
                <a:spcPct val="0"/>
              </a:spcBef>
            </a:pPr>
            <a:r>
              <a:rPr lang="en-US" sz="1800" strike="noStrike" u="none">
                <a:solidFill>
                  <a:srgbClr val="3C4A5C"/>
                </a:solidFill>
                <a:latin typeface="IBM Plex Sans"/>
                <a:ea typeface="IBM Plex Sans"/>
                <a:cs typeface="IBM Plex Sans"/>
                <a:sym typeface="IBM Plex Sans"/>
              </a:rPr>
              <a:t>Tác nhân đe doạ   ·   sinh viên có tài khoản hợp lệ   ·   kẻ phishing bên ngoài   ·   infostealer trên máy GV   ·   bot dò mật khẩu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047750" y="8915400"/>
            <a:ext cx="10477500" cy="306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520"/>
              </a:lnSpc>
              <a:spcBef>
                <a:spcPct val="0"/>
              </a:spcBef>
            </a:pPr>
            <a:r>
              <a:rPr lang="en-US" b="true" sz="1800" strike="noStrike" u="none">
                <a:solidFill>
                  <a:srgbClr val="C0392B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·  insider có quyền DB — tác nhân mà hầu hết đồ án bỏ qua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D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47750" y="819150"/>
            <a:ext cx="876300" cy="47625"/>
            <a:chOff x="0" y="0"/>
            <a:chExt cx="1168400" cy="635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68400" cy="63500"/>
            </a:xfrm>
            <a:custGeom>
              <a:avLst/>
              <a:gdLst/>
              <a:ahLst/>
              <a:cxnLst/>
              <a:rect r="r" b="b" t="t" l="l"/>
              <a:pathLst>
                <a:path h="63500" w="1168400">
                  <a:moveTo>
                    <a:pt x="0" y="0"/>
                  </a:moveTo>
                  <a:lnTo>
                    <a:pt x="1168400" y="0"/>
                  </a:lnTo>
                  <a:lnTo>
                    <a:pt x="1168400" y="63500"/>
                  </a:lnTo>
                  <a:lnTo>
                    <a:pt x="0" y="63500"/>
                  </a:lnTo>
                  <a:close/>
                </a:path>
              </a:pathLst>
            </a:custGeom>
            <a:solidFill>
              <a:srgbClr val="2E5C8A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168400" cy="10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6764000" y="666750"/>
            <a:ext cx="476250" cy="222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350">
                <a:solidFill>
                  <a:srgbClr val="8A98A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04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47750" y="1495425"/>
            <a:ext cx="4476750" cy="13209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84"/>
              </a:lnSpc>
            </a:pPr>
            <a:r>
              <a:rPr lang="en-US" sz="4800" b="true">
                <a:solidFill>
                  <a:srgbClr val="1B2A3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Kiến trúc</a:t>
            </a:r>
          </a:p>
          <a:p>
            <a:pPr algn="l">
              <a:lnSpc>
                <a:spcPts val="5184"/>
              </a:lnSpc>
            </a:pPr>
            <a:r>
              <a:rPr lang="en-US" sz="4800" b="true">
                <a:solidFill>
                  <a:srgbClr val="1B2A3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phân vùng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47750" y="3638550"/>
            <a:ext cx="4000500" cy="25736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70"/>
              </a:lnSpc>
              <a:spcBef>
                <a:spcPct val="0"/>
              </a:spcBef>
            </a:pPr>
            <a:r>
              <a:rPr lang="en-US" sz="1800" strike="noStrike" u="none">
                <a:solidFill>
                  <a:srgbClr val="3C4A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3 zone</a:t>
            </a:r>
          </a:p>
          <a:p>
            <a:pPr algn="l" marL="0" indent="0" lvl="0">
              <a:lnSpc>
                <a:spcPts val="2970"/>
              </a:lnSpc>
              <a:spcBef>
                <a:spcPct val="0"/>
              </a:spcBef>
            </a:pPr>
            <a:r>
              <a:rPr lang="en-US" sz="1800" strike="noStrike" u="none">
                <a:solidFill>
                  <a:srgbClr val="3C4A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4 luồng được phép</a:t>
            </a:r>
          </a:p>
          <a:p>
            <a:pPr algn="l" marL="0" indent="0" lvl="0">
              <a:lnSpc>
                <a:spcPts val="2970"/>
              </a:lnSpc>
              <a:spcBef>
                <a:spcPct val="0"/>
              </a:spcBef>
            </a:pPr>
            <a:r>
              <a:rPr lang="en-US" sz="1800" strike="noStrike" u="none">
                <a:solidFill>
                  <a:srgbClr val="3C4A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5 luồng bị chặn</a:t>
            </a:r>
          </a:p>
          <a:p>
            <a:pPr algn="l" marL="0" indent="0" lvl="0">
              <a:lnSpc>
                <a:spcPts val="2970"/>
              </a:lnSpc>
              <a:spcBef>
                <a:spcPct val="0"/>
              </a:spcBef>
            </a:pPr>
          </a:p>
          <a:p>
            <a:pPr algn="l" marL="0" indent="0" lvl="0">
              <a:lnSpc>
                <a:spcPts val="2970"/>
              </a:lnSpc>
              <a:spcBef>
                <a:spcPct val="0"/>
              </a:spcBef>
            </a:pPr>
            <a:r>
              <a:rPr lang="en-US" sz="1800" strike="noStrike" u="none">
                <a:solidFill>
                  <a:srgbClr val="3C4A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Chỉ WAF publish cổng 8080.</a:t>
            </a:r>
          </a:p>
          <a:p>
            <a:pPr algn="l" marL="0" indent="0" lvl="0">
              <a:lnSpc>
                <a:spcPts val="2970"/>
              </a:lnSpc>
              <a:spcBef>
                <a:spcPct val="0"/>
              </a:spcBef>
            </a:pPr>
            <a:r>
              <a:rPr lang="en-US" sz="1800" strike="noStrike" u="none">
                <a:solidFill>
                  <a:srgbClr val="3C4A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app và db không có port,</a:t>
            </a:r>
          </a:p>
          <a:p>
            <a:pPr algn="l" marL="0" indent="0" lvl="0">
              <a:lnSpc>
                <a:spcPts val="2970"/>
              </a:lnSpc>
              <a:spcBef>
                <a:spcPct val="0"/>
              </a:spcBef>
            </a:pPr>
            <a:r>
              <a:rPr lang="en-US" sz="1800" strike="noStrike" u="none">
                <a:solidFill>
                  <a:srgbClr val="3C4A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không có egress Internet.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6191250" y="1381125"/>
            <a:ext cx="11049000" cy="7239000"/>
            <a:chOff x="0" y="0"/>
            <a:chExt cx="14732000" cy="9652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4732000" cy="9652000"/>
            </a:xfrm>
            <a:custGeom>
              <a:avLst/>
              <a:gdLst/>
              <a:ahLst/>
              <a:cxnLst/>
              <a:rect r="r" b="b" t="t" l="l"/>
              <a:pathLst>
                <a:path h="9652000" w="14732000">
                  <a:moveTo>
                    <a:pt x="0" y="0"/>
                  </a:moveTo>
                  <a:lnTo>
                    <a:pt x="14732000" y="0"/>
                  </a:lnTo>
                  <a:lnTo>
                    <a:pt x="14732000" y="9652000"/>
                  </a:lnTo>
                  <a:lnTo>
                    <a:pt x="0" y="9652000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4DCE6"/>
              </a:solidFill>
              <a:prstDash val="lgDash"/>
              <a:miter/>
            </a:ln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14732000" cy="969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6572250" y="8867775"/>
            <a:ext cx="9906000" cy="5505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204"/>
              </a:lnSpc>
              <a:spcBef>
                <a:spcPct val="0"/>
              </a:spcBef>
            </a:pPr>
            <a:r>
              <a:rPr lang="en-US" sz="1575" strike="noStrike" u="none">
                <a:solidFill>
                  <a:srgbClr val="3C4A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Đã chứng minh bằng lệnh:  D1 refused  ·  D2 refused  ·  D3 không resolve được db  ·  D4 app không gọi được ra Internet</a:t>
            </a:r>
          </a:p>
        </p:txBody>
      </p:sp>
      <p:sp>
        <p:nvSpPr>
          <p:cNvPr name="Freeform 12" id="12" descr="Sơ đồ kiến trúc phân vùng ba zone của SecureGrade"/>
          <p:cNvSpPr/>
          <p:nvPr/>
        </p:nvSpPr>
        <p:spPr>
          <a:xfrm flipH="false" flipV="false" rot="0">
            <a:off x="6905625" y="1381125"/>
            <a:ext cx="9620250" cy="7239000"/>
          </a:xfrm>
          <a:custGeom>
            <a:avLst/>
            <a:gdLst/>
            <a:ahLst/>
            <a:cxnLst/>
            <a:rect r="r" b="b" t="t" l="l"/>
            <a:pathLst>
              <a:path h="7239000" w="9620250">
                <a:moveTo>
                  <a:pt x="0" y="0"/>
                </a:moveTo>
                <a:lnTo>
                  <a:pt x="9620250" y="0"/>
                </a:lnTo>
                <a:lnTo>
                  <a:pt x="9620250" y="7239000"/>
                </a:lnTo>
                <a:lnTo>
                  <a:pt x="0" y="7239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81" t="0" r="-81" b="0"/>
            </a:stretch>
          </a:blipFill>
        </p:spPr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47750" y="819150"/>
            <a:ext cx="876300" cy="47625"/>
            <a:chOff x="0" y="0"/>
            <a:chExt cx="1168400" cy="635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68400" cy="63500"/>
            </a:xfrm>
            <a:custGeom>
              <a:avLst/>
              <a:gdLst/>
              <a:ahLst/>
              <a:cxnLst/>
              <a:rect r="r" b="b" t="t" l="l"/>
              <a:pathLst>
                <a:path h="63500" w="1168400">
                  <a:moveTo>
                    <a:pt x="0" y="0"/>
                  </a:moveTo>
                  <a:lnTo>
                    <a:pt x="1168400" y="0"/>
                  </a:lnTo>
                  <a:lnTo>
                    <a:pt x="1168400" y="63500"/>
                  </a:lnTo>
                  <a:lnTo>
                    <a:pt x="0" y="63500"/>
                  </a:lnTo>
                  <a:close/>
                </a:path>
              </a:pathLst>
            </a:custGeom>
            <a:solidFill>
              <a:srgbClr val="2E5C8A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168400" cy="10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6764000" y="666750"/>
            <a:ext cx="476250" cy="222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350">
                <a:solidFill>
                  <a:srgbClr val="8A98A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05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47750" y="1304925"/>
            <a:ext cx="10477500" cy="6637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84"/>
              </a:lnSpc>
            </a:pPr>
            <a:r>
              <a:rPr lang="en-US" sz="4800" b="true">
                <a:solidFill>
                  <a:srgbClr val="1B2A3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Không tin mặc định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1047750" y="2286000"/>
            <a:ext cx="15240000" cy="4972050"/>
            <a:chOff x="0" y="0"/>
            <a:chExt cx="20320000" cy="6629400"/>
          </a:xfrm>
        </p:grpSpPr>
        <p:grpSp>
          <p:nvGrpSpPr>
            <p:cNvPr name="Group 8" id="8"/>
            <p:cNvGrpSpPr/>
            <p:nvPr/>
          </p:nvGrpSpPr>
          <p:grpSpPr>
            <a:xfrm rot="0">
              <a:off x="0" y="0"/>
              <a:ext cx="20320000" cy="6629400"/>
              <a:chOff x="0" y="0"/>
              <a:chExt cx="20320000" cy="6629400"/>
            </a:xfrm>
          </p:grpSpPr>
          <p:sp>
            <p:nvSpPr>
              <p:cNvPr name="Freeform 9" id="9"/>
              <p:cNvSpPr/>
              <p:nvPr/>
            </p:nvSpPr>
            <p:spPr>
              <a:xfrm flipH="false" flipV="false" rot="0">
                <a:off x="0" y="0"/>
                <a:ext cx="20320000" cy="6629400"/>
              </a:xfrm>
              <a:custGeom>
                <a:avLst/>
                <a:gdLst/>
                <a:ahLst/>
                <a:cxnLst/>
                <a:rect r="r" b="b" t="t" l="l"/>
                <a:pathLst>
                  <a:path h="6629400" w="20320000">
                    <a:moveTo>
                      <a:pt x="0" y="0"/>
                    </a:moveTo>
                    <a:lnTo>
                      <a:pt x="20320000" y="0"/>
                    </a:lnTo>
                    <a:lnTo>
                      <a:pt x="20320000" y="6629400"/>
                    </a:lnTo>
                    <a:lnTo>
                      <a:pt x="0" y="662940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sq">
                <a:solidFill>
                  <a:srgbClr val="D4DCE6"/>
                </a:solidFill>
                <a:prstDash val="solid"/>
                <a:miter/>
              </a:ln>
            </p:spPr>
          </p:sp>
          <p:sp>
            <p:nvSpPr>
              <p:cNvPr name="TextBox 10" id="10"/>
              <p:cNvSpPr txBox="true"/>
              <p:nvPr/>
            </p:nvSpPr>
            <p:spPr>
              <a:xfrm>
                <a:off x="0" y="-38100"/>
                <a:ext cx="20320000" cy="6667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sp>
          <p:nvSpPr>
            <p:cNvPr name="AutoShape 11" id="11"/>
            <p:cNvSpPr/>
            <p:nvPr/>
          </p:nvSpPr>
          <p:spPr>
            <a:xfrm>
              <a:off x="8128000" y="0"/>
              <a:ext cx="0" cy="6629400"/>
            </a:xfrm>
            <a:prstGeom prst="line">
              <a:avLst/>
            </a:prstGeom>
            <a:ln cap="flat" w="12700">
              <a:solidFill>
                <a:srgbClr val="D4DCE6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2" id="12"/>
            <p:cNvSpPr/>
            <p:nvPr/>
          </p:nvSpPr>
          <p:spPr>
            <a:xfrm>
              <a:off x="0" y="787400"/>
              <a:ext cx="20320000" cy="0"/>
            </a:xfrm>
            <a:prstGeom prst="line">
              <a:avLst/>
            </a:prstGeom>
            <a:ln cap="flat" w="25400">
              <a:solidFill>
                <a:srgbClr val="2E5C8A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3" id="13"/>
            <p:cNvSpPr/>
            <p:nvPr/>
          </p:nvSpPr>
          <p:spPr>
            <a:xfrm>
              <a:off x="0" y="1955800"/>
              <a:ext cx="20320000" cy="0"/>
            </a:xfrm>
            <a:prstGeom prst="line">
              <a:avLst/>
            </a:prstGeom>
            <a:ln cap="flat" w="12700">
              <a:solidFill>
                <a:srgbClr val="D4DCE6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4" id="14"/>
            <p:cNvSpPr/>
            <p:nvPr/>
          </p:nvSpPr>
          <p:spPr>
            <a:xfrm>
              <a:off x="0" y="3124200"/>
              <a:ext cx="20320000" cy="0"/>
            </a:xfrm>
            <a:prstGeom prst="line">
              <a:avLst/>
            </a:prstGeom>
            <a:ln cap="flat" w="12700">
              <a:solidFill>
                <a:srgbClr val="D4DCE6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5" id="15"/>
            <p:cNvSpPr/>
            <p:nvPr/>
          </p:nvSpPr>
          <p:spPr>
            <a:xfrm>
              <a:off x="0" y="4292600"/>
              <a:ext cx="20320000" cy="0"/>
            </a:xfrm>
            <a:prstGeom prst="line">
              <a:avLst/>
            </a:prstGeom>
            <a:ln cap="flat" w="12700">
              <a:solidFill>
                <a:srgbClr val="D4DCE6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6" id="16"/>
            <p:cNvSpPr/>
            <p:nvPr/>
          </p:nvSpPr>
          <p:spPr>
            <a:xfrm>
              <a:off x="0" y="5461000"/>
              <a:ext cx="20320000" cy="0"/>
            </a:xfrm>
            <a:prstGeom prst="line">
              <a:avLst/>
            </a:prstGeom>
            <a:ln cap="flat" w="12700">
              <a:solidFill>
                <a:srgbClr val="D4DCE6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17" id="17"/>
            <p:cNvGrpSpPr/>
            <p:nvPr/>
          </p:nvGrpSpPr>
          <p:grpSpPr>
            <a:xfrm rot="0">
              <a:off x="0" y="5461000"/>
              <a:ext cx="20320000" cy="1168400"/>
              <a:chOff x="0" y="0"/>
              <a:chExt cx="20320000" cy="1168400"/>
            </a:xfrm>
          </p:grpSpPr>
          <p:sp>
            <p:nvSpPr>
              <p:cNvPr name="Freeform 18" id="18"/>
              <p:cNvSpPr/>
              <p:nvPr/>
            </p:nvSpPr>
            <p:spPr>
              <a:xfrm flipH="false" flipV="false" rot="0">
                <a:off x="0" y="0"/>
                <a:ext cx="20320000" cy="1168400"/>
              </a:xfrm>
              <a:custGeom>
                <a:avLst/>
                <a:gdLst/>
                <a:ahLst/>
                <a:cxnLst/>
                <a:rect r="r" b="b" t="t" l="l"/>
                <a:pathLst>
                  <a:path h="1168400" w="20320000">
                    <a:moveTo>
                      <a:pt x="0" y="0"/>
                    </a:moveTo>
                    <a:lnTo>
                      <a:pt x="20320000" y="0"/>
                    </a:lnTo>
                    <a:lnTo>
                      <a:pt x="20320000" y="1168400"/>
                    </a:lnTo>
                    <a:lnTo>
                      <a:pt x="0" y="1168400"/>
                    </a:lnTo>
                    <a:close/>
                  </a:path>
                </a:pathLst>
              </a:custGeom>
              <a:solidFill>
                <a:srgbClr val="C0392B">
                  <a:alpha val="9804"/>
                </a:srgbClr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9" id="19"/>
              <p:cNvSpPr txBox="true"/>
              <p:nvPr/>
            </p:nvSpPr>
            <p:spPr>
              <a:xfrm>
                <a:off x="0" y="-38100"/>
                <a:ext cx="20320000" cy="1206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sp>
          <p:nvSpPr>
            <p:cNvPr name="TextBox 20" id="20"/>
            <p:cNvSpPr txBox="true"/>
            <p:nvPr/>
          </p:nvSpPr>
          <p:spPr>
            <a:xfrm rot="0">
              <a:off x="228600" y="177800"/>
              <a:ext cx="7670800" cy="36322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310"/>
                </a:lnSpc>
              </a:pPr>
              <a:r>
                <a:rPr lang="en-US" sz="1650" b="true">
                  <a:solidFill>
                    <a:srgbClr val="2E5C8A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THÔNG TIN</a:t>
              </a:r>
            </a:p>
          </p:txBody>
        </p:sp>
        <p:sp>
          <p:nvSpPr>
            <p:cNvPr name="TextBox 21" id="21"/>
            <p:cNvSpPr txBox="true"/>
            <p:nvPr/>
          </p:nvSpPr>
          <p:spPr>
            <a:xfrm rot="0">
              <a:off x="8356600" y="177800"/>
              <a:ext cx="11734800" cy="36322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310"/>
                </a:lnSpc>
              </a:pPr>
              <a:r>
                <a:rPr lang="en-US" sz="1650" b="true">
                  <a:solidFill>
                    <a:srgbClr val="2E5C8A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KIỂM CHỨNG BẰNG</a:t>
              </a:r>
            </a:p>
          </p:txBody>
        </p:sp>
        <p:sp>
          <p:nvSpPr>
            <p:cNvPr name="TextBox 22" id="22"/>
            <p:cNvSpPr txBox="true"/>
            <p:nvPr/>
          </p:nvSpPr>
          <p:spPr>
            <a:xfrm rot="0">
              <a:off x="228600" y="1028700"/>
              <a:ext cx="76708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Mật khẩu</a:t>
              </a:r>
            </a:p>
          </p:txBody>
        </p:sp>
        <p:sp>
          <p:nvSpPr>
            <p:cNvPr name="TextBox 23" id="23"/>
            <p:cNvSpPr txBox="true"/>
            <p:nvPr/>
          </p:nvSpPr>
          <p:spPr>
            <a:xfrm rot="0">
              <a:off x="8356600" y="1019175"/>
              <a:ext cx="11734800" cy="3263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bcrypt + OTP từ thiết bị khác</a:t>
              </a:r>
            </a:p>
          </p:txBody>
        </p:sp>
        <p:sp>
          <p:nvSpPr>
            <p:cNvPr name="TextBox 24" id="24"/>
            <p:cNvSpPr txBox="true"/>
            <p:nvPr/>
          </p:nvSpPr>
          <p:spPr>
            <a:xfrm rot="0">
              <a:off x="228600" y="2197100"/>
              <a:ext cx="76708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Claim role trong JWT</a:t>
              </a:r>
            </a:p>
          </p:txBody>
        </p:sp>
        <p:sp>
          <p:nvSpPr>
            <p:cNvPr name="TextBox 25" id="25"/>
            <p:cNvSpPr txBox="true"/>
            <p:nvPr/>
          </p:nvSpPr>
          <p:spPr>
            <a:xfrm rot="0">
              <a:off x="8356600" y="2187575"/>
              <a:ext cx="11734800" cy="3263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Không dùng — đọc role từ bảng users</a:t>
              </a:r>
            </a:p>
          </p:txBody>
        </p:sp>
        <p:sp>
          <p:nvSpPr>
            <p:cNvPr name="TextBox 26" id="26"/>
            <p:cNvSpPr txBox="true"/>
            <p:nvPr/>
          </p:nvSpPr>
          <p:spPr>
            <a:xfrm rot="0">
              <a:off x="228600" y="3365500"/>
              <a:ext cx="76708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Cookie phiên hợp lệ</a:t>
              </a:r>
            </a:p>
          </p:txBody>
        </p:sp>
        <p:sp>
          <p:nvSpPr>
            <p:cNvPr name="TextBox 27" id="27"/>
            <p:cNvSpPr txBox="true"/>
            <p:nvPr/>
          </p:nvSpPr>
          <p:spPr>
            <a:xfrm rot="0">
              <a:off x="8356600" y="3355975"/>
              <a:ext cx="11734800" cy="3263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Fingerprint + step-up OTP khi sửa điểm</a:t>
              </a:r>
            </a:p>
          </p:txBody>
        </p:sp>
        <p:sp>
          <p:nvSpPr>
            <p:cNvPr name="TextBox 28" id="28"/>
            <p:cNvSpPr txBox="true"/>
            <p:nvPr/>
          </p:nvSpPr>
          <p:spPr>
            <a:xfrm rot="0">
              <a:off x="228600" y="4533900"/>
              <a:ext cx="76708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enrollmentId từ client</a:t>
              </a:r>
            </a:p>
          </p:txBody>
        </p:sp>
        <p:sp>
          <p:nvSpPr>
            <p:cNvPr name="TextBox 29" id="29"/>
            <p:cNvSpPr txBox="true"/>
            <p:nvPr/>
          </p:nvSpPr>
          <p:spPr>
            <a:xfrm rot="0">
              <a:off x="8356600" y="4524375"/>
              <a:ext cx="11734800" cy="3263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Truy vấn ownership</a:t>
              </a:r>
            </a:p>
          </p:txBody>
        </p:sp>
        <p:sp>
          <p:nvSpPr>
            <p:cNvPr name="TextBox 30" id="30"/>
            <p:cNvSpPr txBox="true"/>
            <p:nvPr/>
          </p:nvSpPr>
          <p:spPr>
            <a:xfrm rot="0">
              <a:off x="228600" y="5702300"/>
              <a:ext cx="76708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b="true" sz="1575" strike="noStrike" u="none">
                  <a:solidFill>
                    <a:srgbClr val="1B2A3F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Dữ liệu trong DB của chính mình</a:t>
              </a:r>
            </a:p>
          </p:txBody>
        </p:sp>
        <p:sp>
          <p:nvSpPr>
            <p:cNvPr name="TextBox 31" id="31"/>
            <p:cNvSpPr txBox="true"/>
            <p:nvPr/>
          </p:nvSpPr>
          <p:spPr>
            <a:xfrm rot="0">
              <a:off x="8356600" y="5692775"/>
              <a:ext cx="11734800" cy="3263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b="true" sz="1575" strike="noStrike" u="none">
                  <a:solidFill>
                    <a:srgbClr val="1B2A3F"/>
                  </a:solidFill>
                  <a:latin typeface="JetBrains Mono Bold"/>
                  <a:ea typeface="JetBrains Mono Bold"/>
                  <a:cs typeface="JetBrains Mono Bold"/>
                  <a:sym typeface="JetBrains Mono Bold"/>
                </a:rPr>
                <a:t>Hash-chain + đối chiếu điểm với log</a:t>
              </a:r>
            </a:p>
          </p:txBody>
        </p:sp>
      </p:grpSp>
      <p:sp>
        <p:nvSpPr>
          <p:cNvPr name="TextBox 32" id="32"/>
          <p:cNvSpPr txBox="true"/>
          <p:nvPr/>
        </p:nvSpPr>
        <p:spPr>
          <a:xfrm rot="0">
            <a:off x="1047750" y="7705725"/>
            <a:ext cx="15240000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b="true">
                <a:solidFill>
                  <a:srgbClr val="2E5C8A"/>
                </a:solidFill>
                <a:latin typeface="Arimo Bold"/>
                <a:ea typeface="Arimo Bold"/>
                <a:cs typeface="Arimo Bold"/>
                <a:sym typeface="Arimo Bold"/>
              </a:rPr>
              <a:t>Hệ thống dựa vào đâu để tin một thông tin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show="false">
  <p:cSld>
    <p:bg>
      <p:bgPr>
        <a:solidFill>
          <a:srgbClr val="ED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47750" y="819150"/>
            <a:ext cx="876300" cy="47625"/>
            <a:chOff x="0" y="0"/>
            <a:chExt cx="1168400" cy="635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68400" cy="63500"/>
            </a:xfrm>
            <a:custGeom>
              <a:avLst/>
              <a:gdLst/>
              <a:ahLst/>
              <a:cxnLst/>
              <a:rect r="r" b="b" t="t" l="l"/>
              <a:pathLst>
                <a:path h="63500" w="1168400">
                  <a:moveTo>
                    <a:pt x="0" y="0"/>
                  </a:moveTo>
                  <a:lnTo>
                    <a:pt x="1168400" y="0"/>
                  </a:lnTo>
                  <a:lnTo>
                    <a:pt x="1168400" y="63500"/>
                  </a:lnTo>
                  <a:lnTo>
                    <a:pt x="0" y="63500"/>
                  </a:lnTo>
                  <a:close/>
                </a:path>
              </a:pathLst>
            </a:custGeom>
            <a:solidFill>
              <a:srgbClr val="2E5C8A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168400" cy="10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6764000" y="666750"/>
            <a:ext cx="476250" cy="222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350">
                <a:solidFill>
                  <a:srgbClr val="8A98A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06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47750" y="1209675"/>
            <a:ext cx="12382500" cy="6637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84"/>
              </a:lnSpc>
            </a:pPr>
            <a:r>
              <a:rPr lang="en-US" sz="4800" b="true">
                <a:solidFill>
                  <a:srgbClr val="1B2A3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Pipeline 12 lớp kiểm chứng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1047750" y="2476500"/>
            <a:ext cx="15478125" cy="2362200"/>
            <a:chOff x="0" y="0"/>
            <a:chExt cx="20637500" cy="3149600"/>
          </a:xfrm>
        </p:grpSpPr>
        <p:grpSp>
          <p:nvGrpSpPr>
            <p:cNvPr name="Group 8" id="8"/>
            <p:cNvGrpSpPr/>
            <p:nvPr/>
          </p:nvGrpSpPr>
          <p:grpSpPr>
            <a:xfrm rot="0">
              <a:off x="0" y="0"/>
              <a:ext cx="2984500" cy="990600"/>
              <a:chOff x="0" y="0"/>
              <a:chExt cx="2984500" cy="990600"/>
            </a:xfrm>
          </p:grpSpPr>
          <p:sp>
            <p:nvSpPr>
              <p:cNvPr name="Freeform 9" id="9"/>
              <p:cNvSpPr/>
              <p:nvPr/>
            </p:nvSpPr>
            <p:spPr>
              <a:xfrm flipH="false" flipV="false" rot="0">
                <a:off x="0" y="0"/>
                <a:ext cx="2984500" cy="990600"/>
              </a:xfrm>
              <a:custGeom>
                <a:avLst/>
                <a:gdLst/>
                <a:ahLst/>
                <a:cxnLst/>
                <a:rect r="r" b="b" t="t" l="l"/>
                <a:pathLst>
                  <a:path h="990600" w="2984500">
                    <a:moveTo>
                      <a:pt x="0" y="0"/>
                    </a:moveTo>
                    <a:lnTo>
                      <a:pt x="2984500" y="0"/>
                    </a:lnTo>
                    <a:lnTo>
                      <a:pt x="2984500" y="990600"/>
                    </a:lnTo>
                    <a:lnTo>
                      <a:pt x="0" y="99060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sq">
                <a:solidFill>
                  <a:srgbClr val="D4DCE6"/>
                </a:solidFill>
                <a:prstDash val="solid"/>
                <a:miter/>
              </a:ln>
            </p:spPr>
          </p:sp>
          <p:sp>
            <p:nvSpPr>
              <p:cNvPr name="TextBox 10" id="10"/>
              <p:cNvSpPr txBox="true"/>
              <p:nvPr/>
            </p:nvSpPr>
            <p:spPr>
              <a:xfrm>
                <a:off x="0" y="-28575"/>
                <a:ext cx="2984500" cy="101917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 marL="0" indent="0" lvl="0">
                  <a:lnSpc>
                    <a:spcPts val="1995"/>
                  </a:lnSpc>
                  <a:spcBef>
                    <a:spcPct val="0"/>
                  </a:spcBef>
                </a:pPr>
                <a:r>
                  <a:rPr lang="en-US" sz="1425" strike="noStrike" u="none">
                    <a:solidFill>
                      <a:srgbClr val="1B2A3F"/>
                    </a:solidFill>
                    <a:latin typeface="IBM Plex Sans"/>
                    <a:ea typeface="IBM Plex Sans"/>
                    <a:cs typeface="IBM Plex Sans"/>
                    <a:sym typeface="IBM Plex Sans"/>
                  </a:rPr>
                  <a:t>1 · WAF</a:t>
                </a:r>
              </a:p>
            </p:txBody>
          </p:sp>
        </p:grpSp>
        <p:sp>
          <p:nvSpPr>
            <p:cNvPr name="AutoShape 11" id="11"/>
            <p:cNvSpPr/>
            <p:nvPr/>
          </p:nvSpPr>
          <p:spPr>
            <a:xfrm>
              <a:off x="3035300" y="495300"/>
              <a:ext cx="381000" cy="0"/>
            </a:xfrm>
            <a:prstGeom prst="line">
              <a:avLst/>
            </a:prstGeom>
            <a:ln cap="rnd" w="25400">
              <a:solidFill>
                <a:srgbClr val="2E5C8A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12" id="12"/>
            <p:cNvGrpSpPr/>
            <p:nvPr/>
          </p:nvGrpSpPr>
          <p:grpSpPr>
            <a:xfrm rot="0">
              <a:off x="3530600" y="0"/>
              <a:ext cx="2984500" cy="990600"/>
              <a:chOff x="0" y="0"/>
              <a:chExt cx="2984500" cy="99060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2984500" cy="990600"/>
              </a:xfrm>
              <a:custGeom>
                <a:avLst/>
                <a:gdLst/>
                <a:ahLst/>
                <a:cxnLst/>
                <a:rect r="r" b="b" t="t" l="l"/>
                <a:pathLst>
                  <a:path h="990600" w="2984500">
                    <a:moveTo>
                      <a:pt x="0" y="0"/>
                    </a:moveTo>
                    <a:lnTo>
                      <a:pt x="2984500" y="0"/>
                    </a:lnTo>
                    <a:lnTo>
                      <a:pt x="2984500" y="990600"/>
                    </a:lnTo>
                    <a:lnTo>
                      <a:pt x="0" y="99060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sq">
                <a:solidFill>
                  <a:srgbClr val="D4DCE6"/>
                </a:solidFill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28575"/>
                <a:ext cx="2984500" cy="101917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 marL="0" indent="0" lvl="0">
                  <a:lnSpc>
                    <a:spcPts val="1995"/>
                  </a:lnSpc>
                  <a:spcBef>
                    <a:spcPct val="0"/>
                  </a:spcBef>
                </a:pPr>
                <a:r>
                  <a:rPr lang="en-US" sz="1425" strike="noStrike" u="none">
                    <a:solidFill>
                      <a:srgbClr val="1B2A3F"/>
                    </a:solidFill>
                    <a:latin typeface="IBM Plex Sans"/>
                    <a:ea typeface="IBM Plex Sans"/>
                    <a:cs typeface="IBM Plex Sans"/>
                    <a:sym typeface="IBM Plex Sans"/>
                  </a:rPr>
                  <a:t>2 · Rate limit</a:t>
                </a:r>
              </a:p>
            </p:txBody>
          </p:sp>
        </p:grpSp>
        <p:sp>
          <p:nvSpPr>
            <p:cNvPr name="AutoShape 15" id="15"/>
            <p:cNvSpPr/>
            <p:nvPr/>
          </p:nvSpPr>
          <p:spPr>
            <a:xfrm>
              <a:off x="6565900" y="495300"/>
              <a:ext cx="381000" cy="0"/>
            </a:xfrm>
            <a:prstGeom prst="line">
              <a:avLst/>
            </a:prstGeom>
            <a:ln cap="rnd" w="25400">
              <a:solidFill>
                <a:srgbClr val="2E5C8A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16" id="16"/>
            <p:cNvGrpSpPr/>
            <p:nvPr/>
          </p:nvGrpSpPr>
          <p:grpSpPr>
            <a:xfrm rot="0">
              <a:off x="7061200" y="0"/>
              <a:ext cx="2984500" cy="990600"/>
              <a:chOff x="0" y="0"/>
              <a:chExt cx="2984500" cy="990600"/>
            </a:xfrm>
          </p:grpSpPr>
          <p:sp>
            <p:nvSpPr>
              <p:cNvPr name="Freeform 17" id="17"/>
              <p:cNvSpPr/>
              <p:nvPr/>
            </p:nvSpPr>
            <p:spPr>
              <a:xfrm flipH="false" flipV="false" rot="0">
                <a:off x="0" y="0"/>
                <a:ext cx="2984500" cy="990600"/>
              </a:xfrm>
              <a:custGeom>
                <a:avLst/>
                <a:gdLst/>
                <a:ahLst/>
                <a:cxnLst/>
                <a:rect r="r" b="b" t="t" l="l"/>
                <a:pathLst>
                  <a:path h="990600" w="2984500">
                    <a:moveTo>
                      <a:pt x="0" y="0"/>
                    </a:moveTo>
                    <a:lnTo>
                      <a:pt x="2984500" y="0"/>
                    </a:lnTo>
                    <a:lnTo>
                      <a:pt x="2984500" y="990600"/>
                    </a:lnTo>
                    <a:lnTo>
                      <a:pt x="0" y="99060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sq">
                <a:solidFill>
                  <a:srgbClr val="D4DCE6"/>
                </a:solidFill>
                <a:prstDash val="solid"/>
                <a:miter/>
              </a:ln>
            </p:spPr>
          </p:sp>
          <p:sp>
            <p:nvSpPr>
              <p:cNvPr name="TextBox 18" id="18"/>
              <p:cNvSpPr txBox="true"/>
              <p:nvPr/>
            </p:nvSpPr>
            <p:spPr>
              <a:xfrm>
                <a:off x="0" y="-28575"/>
                <a:ext cx="2984500" cy="101917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 marL="0" indent="0" lvl="0">
                  <a:lnSpc>
                    <a:spcPts val="1995"/>
                  </a:lnSpc>
                  <a:spcBef>
                    <a:spcPct val="0"/>
                  </a:spcBef>
                </a:pPr>
                <a:r>
                  <a:rPr lang="en-US" sz="1425" strike="noStrike" u="none">
                    <a:solidFill>
                      <a:srgbClr val="1B2A3F"/>
                    </a:solidFill>
                    <a:latin typeface="IBM Plex Sans"/>
                    <a:ea typeface="IBM Plex Sans"/>
                    <a:cs typeface="IBM Plex Sans"/>
                    <a:sym typeface="IBM Plex Sans"/>
                  </a:rPr>
                  <a:t>3 · Chữ ký JWT</a:t>
                </a:r>
              </a:p>
            </p:txBody>
          </p:sp>
        </p:grpSp>
        <p:sp>
          <p:nvSpPr>
            <p:cNvPr name="AutoShape 19" id="19"/>
            <p:cNvSpPr/>
            <p:nvPr/>
          </p:nvSpPr>
          <p:spPr>
            <a:xfrm>
              <a:off x="10096500" y="495300"/>
              <a:ext cx="381000" cy="0"/>
            </a:xfrm>
            <a:prstGeom prst="line">
              <a:avLst/>
            </a:prstGeom>
            <a:ln cap="rnd" w="25400">
              <a:solidFill>
                <a:srgbClr val="2E5C8A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20" id="20"/>
            <p:cNvGrpSpPr/>
            <p:nvPr/>
          </p:nvGrpSpPr>
          <p:grpSpPr>
            <a:xfrm rot="0">
              <a:off x="10591800" y="0"/>
              <a:ext cx="2984500" cy="990600"/>
              <a:chOff x="0" y="0"/>
              <a:chExt cx="2984500" cy="990600"/>
            </a:xfrm>
          </p:grpSpPr>
          <p:sp>
            <p:nvSpPr>
              <p:cNvPr name="Freeform 21" id="21"/>
              <p:cNvSpPr/>
              <p:nvPr/>
            </p:nvSpPr>
            <p:spPr>
              <a:xfrm flipH="false" flipV="false" rot="0">
                <a:off x="0" y="0"/>
                <a:ext cx="2984500" cy="990600"/>
              </a:xfrm>
              <a:custGeom>
                <a:avLst/>
                <a:gdLst/>
                <a:ahLst/>
                <a:cxnLst/>
                <a:rect r="r" b="b" t="t" l="l"/>
                <a:pathLst>
                  <a:path h="990600" w="2984500">
                    <a:moveTo>
                      <a:pt x="0" y="0"/>
                    </a:moveTo>
                    <a:lnTo>
                      <a:pt x="2984500" y="0"/>
                    </a:lnTo>
                    <a:lnTo>
                      <a:pt x="2984500" y="990600"/>
                    </a:lnTo>
                    <a:lnTo>
                      <a:pt x="0" y="99060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sq">
                <a:solidFill>
                  <a:srgbClr val="D4DCE6"/>
                </a:solidFill>
                <a:prstDash val="solid"/>
                <a:miter/>
              </a:ln>
            </p:spPr>
          </p:sp>
          <p:sp>
            <p:nvSpPr>
              <p:cNvPr name="TextBox 22" id="22"/>
              <p:cNvSpPr txBox="true"/>
              <p:nvPr/>
            </p:nvSpPr>
            <p:spPr>
              <a:xfrm>
                <a:off x="0" y="-28575"/>
                <a:ext cx="2984500" cy="101917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 marL="0" indent="0" lvl="0">
                  <a:lnSpc>
                    <a:spcPts val="1995"/>
                  </a:lnSpc>
                  <a:spcBef>
                    <a:spcPct val="0"/>
                  </a:spcBef>
                </a:pPr>
                <a:r>
                  <a:rPr lang="en-US" sz="1425" strike="noStrike" u="none">
                    <a:solidFill>
                      <a:srgbClr val="1B2A3F"/>
                    </a:solidFill>
                    <a:latin typeface="IBM Plex Sans"/>
                    <a:ea typeface="IBM Plex Sans"/>
                    <a:cs typeface="IBM Plex Sans"/>
                    <a:sym typeface="IBM Plex Sans"/>
                  </a:rPr>
                  <a:t>4 · Session</a:t>
                </a:r>
              </a:p>
              <a:p>
                <a:pPr algn="ctr" marL="0" indent="0" lvl="0">
                  <a:lnSpc>
                    <a:spcPts val="1995"/>
                  </a:lnSpc>
                  <a:spcBef>
                    <a:spcPct val="0"/>
                  </a:spcBef>
                </a:pPr>
                <a:r>
                  <a:rPr lang="en-US" sz="1425" strike="noStrike" u="none">
                    <a:solidFill>
                      <a:srgbClr val="1B2A3F"/>
                    </a:solidFill>
                    <a:latin typeface="IBM Plex Sans"/>
                    <a:ea typeface="IBM Plex Sans"/>
                    <a:cs typeface="IBM Plex Sans"/>
                    <a:sym typeface="IBM Plex Sans"/>
                  </a:rPr>
                  <a:t>trong DB</a:t>
                </a:r>
              </a:p>
            </p:txBody>
          </p:sp>
        </p:grpSp>
        <p:sp>
          <p:nvSpPr>
            <p:cNvPr name="AutoShape 23" id="23"/>
            <p:cNvSpPr/>
            <p:nvPr/>
          </p:nvSpPr>
          <p:spPr>
            <a:xfrm>
              <a:off x="13627100" y="495300"/>
              <a:ext cx="381000" cy="0"/>
            </a:xfrm>
            <a:prstGeom prst="line">
              <a:avLst/>
            </a:prstGeom>
            <a:ln cap="rnd" w="25400">
              <a:solidFill>
                <a:srgbClr val="2E5C8A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24" id="24"/>
            <p:cNvGrpSpPr/>
            <p:nvPr/>
          </p:nvGrpSpPr>
          <p:grpSpPr>
            <a:xfrm rot="0">
              <a:off x="14122400" y="0"/>
              <a:ext cx="2984500" cy="990600"/>
              <a:chOff x="0" y="0"/>
              <a:chExt cx="2984500" cy="990600"/>
            </a:xfrm>
          </p:grpSpPr>
          <p:sp>
            <p:nvSpPr>
              <p:cNvPr name="Freeform 25" id="25"/>
              <p:cNvSpPr/>
              <p:nvPr/>
            </p:nvSpPr>
            <p:spPr>
              <a:xfrm flipH="false" flipV="false" rot="0">
                <a:off x="0" y="0"/>
                <a:ext cx="2984500" cy="990600"/>
              </a:xfrm>
              <a:custGeom>
                <a:avLst/>
                <a:gdLst/>
                <a:ahLst/>
                <a:cxnLst/>
                <a:rect r="r" b="b" t="t" l="l"/>
                <a:pathLst>
                  <a:path h="990600" w="2984500">
                    <a:moveTo>
                      <a:pt x="0" y="0"/>
                    </a:moveTo>
                    <a:lnTo>
                      <a:pt x="2984500" y="0"/>
                    </a:lnTo>
                    <a:lnTo>
                      <a:pt x="2984500" y="990600"/>
                    </a:lnTo>
                    <a:lnTo>
                      <a:pt x="0" y="990600"/>
                    </a:lnTo>
                    <a:close/>
                  </a:path>
                </a:pathLst>
              </a:custGeom>
              <a:solidFill>
                <a:srgbClr val="2E5C8A"/>
              </a:solidFill>
              <a:ln w="9525" cap="sq">
                <a:solidFill>
                  <a:srgbClr val="34465D"/>
                </a:solidFill>
                <a:prstDash val="solid"/>
                <a:miter/>
              </a:ln>
            </p:spPr>
          </p:sp>
          <p:sp>
            <p:nvSpPr>
              <p:cNvPr name="TextBox 26" id="26"/>
              <p:cNvSpPr txBox="true"/>
              <p:nvPr/>
            </p:nvSpPr>
            <p:spPr>
              <a:xfrm>
                <a:off x="0" y="-28575"/>
                <a:ext cx="2984500" cy="101917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 marL="0" indent="0" lvl="0">
                  <a:lnSpc>
                    <a:spcPts val="1995"/>
                  </a:lnSpc>
                  <a:spcBef>
                    <a:spcPct val="0"/>
                  </a:spcBef>
                </a:pPr>
                <a:r>
                  <a:rPr lang="en-US" b="true" sz="1425" strike="noStrike" u="none">
                    <a:solidFill>
                      <a:srgbClr val="F4F7FB"/>
                    </a:solidFill>
                    <a:latin typeface="IBM Plex Sans Bold"/>
                    <a:ea typeface="IBM Plex Sans Bold"/>
                    <a:cs typeface="IBM Plex Sans Bold"/>
                    <a:sym typeface="IBM Plex Sans Bold"/>
                  </a:rPr>
                  <a:t>5 · Fingerprint</a:t>
                </a:r>
              </a:p>
            </p:txBody>
          </p:sp>
        </p:grpSp>
        <p:sp>
          <p:nvSpPr>
            <p:cNvPr name="AutoShape 27" id="27"/>
            <p:cNvSpPr/>
            <p:nvPr/>
          </p:nvSpPr>
          <p:spPr>
            <a:xfrm>
              <a:off x="17157700" y="495300"/>
              <a:ext cx="381000" cy="0"/>
            </a:xfrm>
            <a:prstGeom prst="line">
              <a:avLst/>
            </a:prstGeom>
            <a:ln cap="rnd" w="25400">
              <a:solidFill>
                <a:srgbClr val="2E5C8A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28" id="28"/>
            <p:cNvGrpSpPr/>
            <p:nvPr/>
          </p:nvGrpSpPr>
          <p:grpSpPr>
            <a:xfrm rot="0">
              <a:off x="17653000" y="0"/>
              <a:ext cx="2984500" cy="990600"/>
              <a:chOff x="0" y="0"/>
              <a:chExt cx="2984500" cy="990600"/>
            </a:xfrm>
          </p:grpSpPr>
          <p:sp>
            <p:nvSpPr>
              <p:cNvPr name="Freeform 29" id="29"/>
              <p:cNvSpPr/>
              <p:nvPr/>
            </p:nvSpPr>
            <p:spPr>
              <a:xfrm flipH="false" flipV="false" rot="0">
                <a:off x="0" y="0"/>
                <a:ext cx="2984500" cy="990600"/>
              </a:xfrm>
              <a:custGeom>
                <a:avLst/>
                <a:gdLst/>
                <a:ahLst/>
                <a:cxnLst/>
                <a:rect r="r" b="b" t="t" l="l"/>
                <a:pathLst>
                  <a:path h="990600" w="2984500">
                    <a:moveTo>
                      <a:pt x="0" y="0"/>
                    </a:moveTo>
                    <a:lnTo>
                      <a:pt x="2984500" y="0"/>
                    </a:lnTo>
                    <a:lnTo>
                      <a:pt x="2984500" y="990600"/>
                    </a:lnTo>
                    <a:lnTo>
                      <a:pt x="0" y="99060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sq">
                <a:solidFill>
                  <a:srgbClr val="D4DCE6"/>
                </a:solidFill>
                <a:prstDash val="solid"/>
                <a:miter/>
              </a:ln>
            </p:spPr>
          </p:sp>
          <p:sp>
            <p:nvSpPr>
              <p:cNvPr name="TextBox 30" id="30"/>
              <p:cNvSpPr txBox="true"/>
              <p:nvPr/>
            </p:nvSpPr>
            <p:spPr>
              <a:xfrm>
                <a:off x="0" y="-28575"/>
                <a:ext cx="2984500" cy="101917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 marL="0" indent="0" lvl="0">
                  <a:lnSpc>
                    <a:spcPts val="1995"/>
                  </a:lnSpc>
                  <a:spcBef>
                    <a:spcPct val="0"/>
                  </a:spcBef>
                </a:pPr>
                <a:r>
                  <a:rPr lang="en-US" sz="1425" strike="noStrike" u="none">
                    <a:solidFill>
                      <a:srgbClr val="1B2A3F"/>
                    </a:solidFill>
                    <a:latin typeface="IBM Plex Sans"/>
                    <a:ea typeface="IBM Plex Sans"/>
                    <a:cs typeface="IBM Plex Sans"/>
                    <a:sym typeface="IBM Plex Sans"/>
                  </a:rPr>
                  <a:t>6 · MFA</a:t>
                </a:r>
              </a:p>
            </p:txBody>
          </p:sp>
        </p:grpSp>
        <p:grpSp>
          <p:nvGrpSpPr>
            <p:cNvPr name="Group 31" id="31"/>
            <p:cNvGrpSpPr/>
            <p:nvPr/>
          </p:nvGrpSpPr>
          <p:grpSpPr>
            <a:xfrm rot="0">
              <a:off x="0" y="2159000"/>
              <a:ext cx="2984500" cy="990600"/>
              <a:chOff x="0" y="0"/>
              <a:chExt cx="2984500" cy="990600"/>
            </a:xfrm>
          </p:grpSpPr>
          <p:sp>
            <p:nvSpPr>
              <p:cNvPr name="Freeform 32" id="32"/>
              <p:cNvSpPr/>
              <p:nvPr/>
            </p:nvSpPr>
            <p:spPr>
              <a:xfrm flipH="false" flipV="false" rot="0">
                <a:off x="0" y="0"/>
                <a:ext cx="2984500" cy="990600"/>
              </a:xfrm>
              <a:custGeom>
                <a:avLst/>
                <a:gdLst/>
                <a:ahLst/>
                <a:cxnLst/>
                <a:rect r="r" b="b" t="t" l="l"/>
                <a:pathLst>
                  <a:path h="990600" w="2984500">
                    <a:moveTo>
                      <a:pt x="0" y="0"/>
                    </a:moveTo>
                    <a:lnTo>
                      <a:pt x="2984500" y="0"/>
                    </a:lnTo>
                    <a:lnTo>
                      <a:pt x="2984500" y="990600"/>
                    </a:lnTo>
                    <a:lnTo>
                      <a:pt x="0" y="99060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sq">
                <a:solidFill>
                  <a:srgbClr val="D4DCE6"/>
                </a:solidFill>
                <a:prstDash val="solid"/>
                <a:miter/>
              </a:ln>
            </p:spPr>
          </p:sp>
          <p:sp>
            <p:nvSpPr>
              <p:cNvPr name="TextBox 33" id="33"/>
              <p:cNvSpPr txBox="true"/>
              <p:nvPr/>
            </p:nvSpPr>
            <p:spPr>
              <a:xfrm>
                <a:off x="0" y="-28575"/>
                <a:ext cx="2984500" cy="101917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 marL="0" indent="0" lvl="0">
                  <a:lnSpc>
                    <a:spcPts val="1995"/>
                  </a:lnSpc>
                  <a:spcBef>
                    <a:spcPct val="0"/>
                  </a:spcBef>
                </a:pPr>
                <a:r>
                  <a:rPr lang="en-US" sz="1425" strike="noStrike" u="none">
                    <a:solidFill>
                      <a:srgbClr val="1B2A3F"/>
                    </a:solidFill>
                    <a:latin typeface="IBM Plex Sans"/>
                    <a:ea typeface="IBM Plex Sans"/>
                    <a:cs typeface="IBM Plex Sans"/>
                    <a:sym typeface="IBM Plex Sans"/>
                  </a:rPr>
                  <a:t>7 · RBAC</a:t>
                </a:r>
              </a:p>
            </p:txBody>
          </p:sp>
        </p:grpSp>
        <p:sp>
          <p:nvSpPr>
            <p:cNvPr name="AutoShape 34" id="34"/>
            <p:cNvSpPr/>
            <p:nvPr/>
          </p:nvSpPr>
          <p:spPr>
            <a:xfrm>
              <a:off x="3035300" y="2654300"/>
              <a:ext cx="381000" cy="0"/>
            </a:xfrm>
            <a:prstGeom prst="line">
              <a:avLst/>
            </a:prstGeom>
            <a:ln cap="rnd" w="25400">
              <a:solidFill>
                <a:srgbClr val="2E5C8A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35" id="35"/>
            <p:cNvGrpSpPr/>
            <p:nvPr/>
          </p:nvGrpSpPr>
          <p:grpSpPr>
            <a:xfrm rot="0">
              <a:off x="3530600" y="2159000"/>
              <a:ext cx="2984500" cy="990600"/>
              <a:chOff x="0" y="0"/>
              <a:chExt cx="2984500" cy="990600"/>
            </a:xfrm>
          </p:grpSpPr>
          <p:sp>
            <p:nvSpPr>
              <p:cNvPr name="Freeform 36" id="36"/>
              <p:cNvSpPr/>
              <p:nvPr/>
            </p:nvSpPr>
            <p:spPr>
              <a:xfrm flipH="false" flipV="false" rot="0">
                <a:off x="0" y="0"/>
                <a:ext cx="2984500" cy="990600"/>
              </a:xfrm>
              <a:custGeom>
                <a:avLst/>
                <a:gdLst/>
                <a:ahLst/>
                <a:cxnLst/>
                <a:rect r="r" b="b" t="t" l="l"/>
                <a:pathLst>
                  <a:path h="990600" w="2984500">
                    <a:moveTo>
                      <a:pt x="0" y="0"/>
                    </a:moveTo>
                    <a:lnTo>
                      <a:pt x="2984500" y="0"/>
                    </a:lnTo>
                    <a:lnTo>
                      <a:pt x="2984500" y="990600"/>
                    </a:lnTo>
                    <a:lnTo>
                      <a:pt x="0" y="990600"/>
                    </a:lnTo>
                    <a:close/>
                  </a:path>
                </a:pathLst>
              </a:custGeom>
              <a:solidFill>
                <a:srgbClr val="2E5C8A"/>
              </a:solidFill>
              <a:ln w="9525" cap="sq">
                <a:solidFill>
                  <a:srgbClr val="34465D"/>
                </a:solidFill>
                <a:prstDash val="solid"/>
                <a:miter/>
              </a:ln>
            </p:spPr>
          </p:sp>
          <p:sp>
            <p:nvSpPr>
              <p:cNvPr name="TextBox 37" id="37"/>
              <p:cNvSpPr txBox="true"/>
              <p:nvPr/>
            </p:nvSpPr>
            <p:spPr>
              <a:xfrm>
                <a:off x="0" y="-28575"/>
                <a:ext cx="2984500" cy="101917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 marL="0" indent="0" lvl="0">
                  <a:lnSpc>
                    <a:spcPts val="1995"/>
                  </a:lnSpc>
                  <a:spcBef>
                    <a:spcPct val="0"/>
                  </a:spcBef>
                </a:pPr>
                <a:r>
                  <a:rPr lang="en-US" b="true" sz="1425" strike="noStrike" u="none">
                    <a:solidFill>
                      <a:srgbClr val="F4F7FB"/>
                    </a:solidFill>
                    <a:latin typeface="IBM Plex Sans Bold"/>
                    <a:ea typeface="IBM Plex Sans Bold"/>
                    <a:cs typeface="IBM Plex Sans Bold"/>
                    <a:sym typeface="IBM Plex Sans Bold"/>
                  </a:rPr>
                  <a:t>8 · Step-up OTP</a:t>
                </a:r>
              </a:p>
            </p:txBody>
          </p:sp>
        </p:grpSp>
        <p:sp>
          <p:nvSpPr>
            <p:cNvPr name="AutoShape 38" id="38"/>
            <p:cNvSpPr/>
            <p:nvPr/>
          </p:nvSpPr>
          <p:spPr>
            <a:xfrm>
              <a:off x="6565900" y="2654300"/>
              <a:ext cx="381000" cy="0"/>
            </a:xfrm>
            <a:prstGeom prst="line">
              <a:avLst/>
            </a:prstGeom>
            <a:ln cap="rnd" w="25400">
              <a:solidFill>
                <a:srgbClr val="2E5C8A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39" id="39"/>
            <p:cNvGrpSpPr/>
            <p:nvPr/>
          </p:nvGrpSpPr>
          <p:grpSpPr>
            <a:xfrm rot="0">
              <a:off x="7061200" y="2159000"/>
              <a:ext cx="2984500" cy="990600"/>
              <a:chOff x="0" y="0"/>
              <a:chExt cx="2984500" cy="990600"/>
            </a:xfrm>
          </p:grpSpPr>
          <p:sp>
            <p:nvSpPr>
              <p:cNvPr name="Freeform 40" id="40"/>
              <p:cNvSpPr/>
              <p:nvPr/>
            </p:nvSpPr>
            <p:spPr>
              <a:xfrm flipH="false" flipV="false" rot="0">
                <a:off x="0" y="0"/>
                <a:ext cx="2984500" cy="990600"/>
              </a:xfrm>
              <a:custGeom>
                <a:avLst/>
                <a:gdLst/>
                <a:ahLst/>
                <a:cxnLst/>
                <a:rect r="r" b="b" t="t" l="l"/>
                <a:pathLst>
                  <a:path h="990600" w="2984500">
                    <a:moveTo>
                      <a:pt x="0" y="0"/>
                    </a:moveTo>
                    <a:lnTo>
                      <a:pt x="2984500" y="0"/>
                    </a:lnTo>
                    <a:lnTo>
                      <a:pt x="2984500" y="990600"/>
                    </a:lnTo>
                    <a:lnTo>
                      <a:pt x="0" y="99060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sq">
                <a:solidFill>
                  <a:srgbClr val="D4DCE6"/>
                </a:solidFill>
                <a:prstDash val="solid"/>
                <a:miter/>
              </a:ln>
            </p:spPr>
          </p:sp>
          <p:sp>
            <p:nvSpPr>
              <p:cNvPr name="TextBox 41" id="41"/>
              <p:cNvSpPr txBox="true"/>
              <p:nvPr/>
            </p:nvSpPr>
            <p:spPr>
              <a:xfrm>
                <a:off x="0" y="-28575"/>
                <a:ext cx="2984500" cy="101917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 marL="0" indent="0" lvl="0">
                  <a:lnSpc>
                    <a:spcPts val="1995"/>
                  </a:lnSpc>
                  <a:spcBef>
                    <a:spcPct val="0"/>
                  </a:spcBef>
                </a:pPr>
                <a:r>
                  <a:rPr lang="en-US" sz="1425" strike="noStrike" u="none">
                    <a:solidFill>
                      <a:srgbClr val="1B2A3F"/>
                    </a:solidFill>
                    <a:latin typeface="IBM Plex Sans"/>
                    <a:ea typeface="IBM Plex Sans"/>
                    <a:cs typeface="IBM Plex Sans"/>
                    <a:sym typeface="IBM Plex Sans"/>
                  </a:rPr>
                  <a:t>9 · Validation</a:t>
                </a:r>
              </a:p>
            </p:txBody>
          </p:sp>
        </p:grpSp>
        <p:sp>
          <p:nvSpPr>
            <p:cNvPr name="AutoShape 42" id="42"/>
            <p:cNvSpPr/>
            <p:nvPr/>
          </p:nvSpPr>
          <p:spPr>
            <a:xfrm>
              <a:off x="10096500" y="2654300"/>
              <a:ext cx="381000" cy="0"/>
            </a:xfrm>
            <a:prstGeom prst="line">
              <a:avLst/>
            </a:prstGeom>
            <a:ln cap="rnd" w="25400">
              <a:solidFill>
                <a:srgbClr val="2E5C8A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43" id="43"/>
            <p:cNvGrpSpPr/>
            <p:nvPr/>
          </p:nvGrpSpPr>
          <p:grpSpPr>
            <a:xfrm rot="0">
              <a:off x="10591800" y="2159000"/>
              <a:ext cx="2984500" cy="990600"/>
              <a:chOff x="0" y="0"/>
              <a:chExt cx="2984500" cy="990600"/>
            </a:xfrm>
          </p:grpSpPr>
          <p:sp>
            <p:nvSpPr>
              <p:cNvPr name="Freeform 44" id="44"/>
              <p:cNvSpPr/>
              <p:nvPr/>
            </p:nvSpPr>
            <p:spPr>
              <a:xfrm flipH="false" flipV="false" rot="0">
                <a:off x="0" y="0"/>
                <a:ext cx="2984500" cy="990600"/>
              </a:xfrm>
              <a:custGeom>
                <a:avLst/>
                <a:gdLst/>
                <a:ahLst/>
                <a:cxnLst/>
                <a:rect r="r" b="b" t="t" l="l"/>
                <a:pathLst>
                  <a:path h="990600" w="2984500">
                    <a:moveTo>
                      <a:pt x="0" y="0"/>
                    </a:moveTo>
                    <a:lnTo>
                      <a:pt x="2984500" y="0"/>
                    </a:lnTo>
                    <a:lnTo>
                      <a:pt x="2984500" y="990600"/>
                    </a:lnTo>
                    <a:lnTo>
                      <a:pt x="0" y="990600"/>
                    </a:lnTo>
                    <a:close/>
                  </a:path>
                </a:pathLst>
              </a:custGeom>
              <a:solidFill>
                <a:srgbClr val="2E5C8A"/>
              </a:solidFill>
              <a:ln w="9525" cap="sq">
                <a:solidFill>
                  <a:srgbClr val="34465D"/>
                </a:solidFill>
                <a:prstDash val="solid"/>
                <a:miter/>
              </a:ln>
            </p:spPr>
          </p:sp>
          <p:sp>
            <p:nvSpPr>
              <p:cNvPr name="TextBox 45" id="45"/>
              <p:cNvSpPr txBox="true"/>
              <p:nvPr/>
            </p:nvSpPr>
            <p:spPr>
              <a:xfrm>
                <a:off x="0" y="-28575"/>
                <a:ext cx="2984500" cy="101917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 marL="0" indent="0" lvl="0">
                  <a:lnSpc>
                    <a:spcPts val="1995"/>
                  </a:lnSpc>
                  <a:spcBef>
                    <a:spcPct val="0"/>
                  </a:spcBef>
                </a:pPr>
                <a:r>
                  <a:rPr lang="en-US" b="true" sz="1425" strike="noStrike" u="none">
                    <a:solidFill>
                      <a:srgbClr val="F4F7FB"/>
                    </a:solidFill>
                    <a:latin typeface="IBM Plex Sans Bold"/>
                    <a:ea typeface="IBM Plex Sans Bold"/>
                    <a:cs typeface="IBM Plex Sans Bold"/>
                    <a:sym typeface="IBM Plex Sans Bold"/>
                  </a:rPr>
                  <a:t>10 · Ownership</a:t>
                </a:r>
              </a:p>
            </p:txBody>
          </p:sp>
        </p:grpSp>
        <p:sp>
          <p:nvSpPr>
            <p:cNvPr name="AutoShape 46" id="46"/>
            <p:cNvSpPr/>
            <p:nvPr/>
          </p:nvSpPr>
          <p:spPr>
            <a:xfrm>
              <a:off x="13627100" y="2654300"/>
              <a:ext cx="381000" cy="0"/>
            </a:xfrm>
            <a:prstGeom prst="line">
              <a:avLst/>
            </a:prstGeom>
            <a:ln cap="rnd" w="25400">
              <a:solidFill>
                <a:srgbClr val="2E5C8A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47" id="47"/>
            <p:cNvGrpSpPr/>
            <p:nvPr/>
          </p:nvGrpSpPr>
          <p:grpSpPr>
            <a:xfrm rot="0">
              <a:off x="14122400" y="2159000"/>
              <a:ext cx="2984500" cy="990600"/>
              <a:chOff x="0" y="0"/>
              <a:chExt cx="2984500" cy="990600"/>
            </a:xfrm>
          </p:grpSpPr>
          <p:sp>
            <p:nvSpPr>
              <p:cNvPr name="Freeform 48" id="48"/>
              <p:cNvSpPr/>
              <p:nvPr/>
            </p:nvSpPr>
            <p:spPr>
              <a:xfrm flipH="false" flipV="false" rot="0">
                <a:off x="0" y="0"/>
                <a:ext cx="2984500" cy="990600"/>
              </a:xfrm>
              <a:custGeom>
                <a:avLst/>
                <a:gdLst/>
                <a:ahLst/>
                <a:cxnLst/>
                <a:rect r="r" b="b" t="t" l="l"/>
                <a:pathLst>
                  <a:path h="990600" w="2984500">
                    <a:moveTo>
                      <a:pt x="0" y="0"/>
                    </a:moveTo>
                    <a:lnTo>
                      <a:pt x="2984500" y="0"/>
                    </a:lnTo>
                    <a:lnTo>
                      <a:pt x="2984500" y="990600"/>
                    </a:lnTo>
                    <a:lnTo>
                      <a:pt x="0" y="99060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sq">
                <a:solidFill>
                  <a:srgbClr val="D4DCE6"/>
                </a:solidFill>
                <a:prstDash val="solid"/>
                <a:miter/>
              </a:ln>
            </p:spPr>
          </p:sp>
          <p:sp>
            <p:nvSpPr>
              <p:cNvPr name="TextBox 49" id="49"/>
              <p:cNvSpPr txBox="true"/>
              <p:nvPr/>
            </p:nvSpPr>
            <p:spPr>
              <a:xfrm>
                <a:off x="0" y="-28575"/>
                <a:ext cx="2984500" cy="101917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 marL="0" indent="0" lvl="0">
                  <a:lnSpc>
                    <a:spcPts val="1995"/>
                  </a:lnSpc>
                  <a:spcBef>
                    <a:spcPct val="0"/>
                  </a:spcBef>
                </a:pPr>
                <a:r>
                  <a:rPr lang="en-US" sz="1425" strike="noStrike" u="none">
                    <a:solidFill>
                      <a:srgbClr val="1B2A3F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11 · Parameterized</a:t>
                </a:r>
              </a:p>
              <a:p>
                <a:pPr algn="ctr" marL="0" indent="0" lvl="0">
                  <a:lnSpc>
                    <a:spcPts val="1995"/>
                  </a:lnSpc>
                  <a:spcBef>
                    <a:spcPct val="0"/>
                  </a:spcBef>
                </a:pPr>
                <a:r>
                  <a:rPr lang="en-US" sz="1425" strike="noStrike" u="none">
                    <a:solidFill>
                      <a:srgbClr val="1B2A3F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query</a:t>
                </a:r>
              </a:p>
            </p:txBody>
          </p:sp>
        </p:grpSp>
        <p:sp>
          <p:nvSpPr>
            <p:cNvPr name="AutoShape 50" id="50"/>
            <p:cNvSpPr/>
            <p:nvPr/>
          </p:nvSpPr>
          <p:spPr>
            <a:xfrm>
              <a:off x="17157700" y="2654300"/>
              <a:ext cx="381000" cy="0"/>
            </a:xfrm>
            <a:prstGeom prst="line">
              <a:avLst/>
            </a:prstGeom>
            <a:ln cap="rnd" w="25400">
              <a:solidFill>
                <a:srgbClr val="2E5C8A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51" id="51"/>
            <p:cNvGrpSpPr/>
            <p:nvPr/>
          </p:nvGrpSpPr>
          <p:grpSpPr>
            <a:xfrm rot="0">
              <a:off x="17653000" y="2159000"/>
              <a:ext cx="2984500" cy="990600"/>
              <a:chOff x="0" y="0"/>
              <a:chExt cx="2984500" cy="990600"/>
            </a:xfrm>
          </p:grpSpPr>
          <p:sp>
            <p:nvSpPr>
              <p:cNvPr name="Freeform 52" id="52"/>
              <p:cNvSpPr/>
              <p:nvPr/>
            </p:nvSpPr>
            <p:spPr>
              <a:xfrm flipH="false" flipV="false" rot="0">
                <a:off x="0" y="0"/>
                <a:ext cx="2984500" cy="990600"/>
              </a:xfrm>
              <a:custGeom>
                <a:avLst/>
                <a:gdLst/>
                <a:ahLst/>
                <a:cxnLst/>
                <a:rect r="r" b="b" t="t" l="l"/>
                <a:pathLst>
                  <a:path h="990600" w="2984500">
                    <a:moveTo>
                      <a:pt x="0" y="0"/>
                    </a:moveTo>
                    <a:lnTo>
                      <a:pt x="2984500" y="0"/>
                    </a:lnTo>
                    <a:lnTo>
                      <a:pt x="2984500" y="990600"/>
                    </a:lnTo>
                    <a:lnTo>
                      <a:pt x="0" y="990600"/>
                    </a:lnTo>
                    <a:close/>
                  </a:path>
                </a:pathLst>
              </a:custGeom>
              <a:solidFill>
                <a:srgbClr val="2E5C8A"/>
              </a:solidFill>
              <a:ln w="9525" cap="sq">
                <a:solidFill>
                  <a:srgbClr val="34465D"/>
                </a:solidFill>
                <a:prstDash val="solid"/>
                <a:miter/>
              </a:ln>
            </p:spPr>
          </p:sp>
          <p:sp>
            <p:nvSpPr>
              <p:cNvPr name="TextBox 53" id="53"/>
              <p:cNvSpPr txBox="true"/>
              <p:nvPr/>
            </p:nvSpPr>
            <p:spPr>
              <a:xfrm>
                <a:off x="0" y="-28575"/>
                <a:ext cx="2984500" cy="101917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 marL="0" indent="0" lvl="0">
                  <a:lnSpc>
                    <a:spcPts val="1995"/>
                  </a:lnSpc>
                  <a:spcBef>
                    <a:spcPct val="0"/>
                  </a:spcBef>
                </a:pPr>
                <a:r>
                  <a:rPr lang="en-US" b="true" sz="1425" strike="noStrike" u="none">
                    <a:solidFill>
                      <a:srgbClr val="F4F7FB"/>
                    </a:solidFill>
                    <a:latin typeface="JetBrains Mono Bold"/>
                    <a:ea typeface="JetBrains Mono Bold"/>
                    <a:cs typeface="JetBrains Mono Bold"/>
                    <a:sym typeface="JetBrains Mono Bold"/>
                  </a:rPr>
                  <a:t>12 · Audit</a:t>
                </a:r>
              </a:p>
              <a:p>
                <a:pPr algn="ctr" marL="0" indent="0" lvl="0">
                  <a:lnSpc>
                    <a:spcPts val="1995"/>
                  </a:lnSpc>
                  <a:spcBef>
                    <a:spcPct val="0"/>
                  </a:spcBef>
                </a:pPr>
                <a:r>
                  <a:rPr lang="en-US" b="true" sz="1425" strike="noStrike" u="none">
                    <a:solidFill>
                      <a:srgbClr val="F4F7FB"/>
                    </a:solidFill>
                    <a:latin typeface="JetBrains Mono Bold"/>
                    <a:ea typeface="JetBrains Mono Bold"/>
                    <a:cs typeface="JetBrains Mono Bold"/>
                    <a:sym typeface="JetBrains Mono Bold"/>
                  </a:rPr>
                  <a:t>hash-chain</a:t>
                </a:r>
              </a:p>
            </p:txBody>
          </p:sp>
        </p:grpSp>
      </p:grpSp>
      <p:grpSp>
        <p:nvGrpSpPr>
          <p:cNvPr name="Group 54" id="54"/>
          <p:cNvGrpSpPr/>
          <p:nvPr/>
        </p:nvGrpSpPr>
        <p:grpSpPr>
          <a:xfrm rot="0">
            <a:off x="1047750" y="5953125"/>
            <a:ext cx="16002000" cy="2333625"/>
            <a:chOff x="0" y="0"/>
            <a:chExt cx="21336000" cy="3111500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21336000" cy="3111500"/>
            </a:xfrm>
            <a:custGeom>
              <a:avLst/>
              <a:gdLst/>
              <a:ahLst/>
              <a:cxnLst/>
              <a:rect r="r" b="b" t="t" l="l"/>
              <a:pathLst>
                <a:path h="3111500" w="21336000">
                  <a:moveTo>
                    <a:pt x="0" y="0"/>
                  </a:moveTo>
                  <a:lnTo>
                    <a:pt x="21336000" y="0"/>
                  </a:lnTo>
                  <a:lnTo>
                    <a:pt x="21336000" y="3111500"/>
                  </a:lnTo>
                  <a:lnTo>
                    <a:pt x="0" y="3111500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4DCE6"/>
              </a:solidFill>
              <a:prstDash val="lgDash"/>
              <a:miter/>
            </a:ln>
          </p:spPr>
        </p:sp>
        <p:sp>
          <p:nvSpPr>
            <p:cNvPr name="TextBox 56" id="56"/>
            <p:cNvSpPr txBox="true"/>
            <p:nvPr/>
          </p:nvSpPr>
          <p:spPr>
            <a:xfrm>
              <a:off x="0" y="-38100"/>
              <a:ext cx="21336000" cy="3149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57" id="57"/>
          <p:cNvSpPr txBox="true"/>
          <p:nvPr/>
        </p:nvSpPr>
        <p:spPr>
          <a:xfrm rot="0">
            <a:off x="1524000" y="6438900"/>
            <a:ext cx="15049500" cy="1581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149"/>
              </a:lnSpc>
              <a:spcBef>
                <a:spcPct val="0"/>
              </a:spcBef>
            </a:pPr>
            <a:r>
              <a:rPr lang="en-US" sz="2250" strike="noStrike" u="none">
                <a:solidFill>
                  <a:srgbClr val="3C4A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Mỗi lớp độc lập — lớp trước thủng thì lớp sau vẫn giữ.</a:t>
            </a:r>
          </a:p>
          <a:p>
            <a:pPr algn="l" marL="0" indent="0" lvl="0">
              <a:lnSpc>
                <a:spcPts val="3149"/>
              </a:lnSpc>
              <a:spcBef>
                <a:spcPct val="0"/>
              </a:spcBef>
            </a:pPr>
          </a:p>
          <a:p>
            <a:pPr algn="l" marL="0" indent="0" lvl="0">
              <a:lnSpc>
                <a:spcPts val="3149"/>
              </a:lnSpc>
              <a:spcBef>
                <a:spcPct val="0"/>
              </a:spcBef>
            </a:pPr>
            <a:r>
              <a:rPr lang="en-US" sz="2250" strike="noStrike" u="none">
                <a:solidFill>
                  <a:srgbClr val="3C4A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Audit nằm cùng transaction với điểm → không tồn tại trạng thái “điểm đổi mà không có log”.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47750" y="819150"/>
            <a:ext cx="876300" cy="47625"/>
            <a:chOff x="0" y="0"/>
            <a:chExt cx="1168400" cy="635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68400" cy="63500"/>
            </a:xfrm>
            <a:custGeom>
              <a:avLst/>
              <a:gdLst/>
              <a:ahLst/>
              <a:cxnLst/>
              <a:rect r="r" b="b" t="t" l="l"/>
              <a:pathLst>
                <a:path h="63500" w="1168400">
                  <a:moveTo>
                    <a:pt x="0" y="0"/>
                  </a:moveTo>
                  <a:lnTo>
                    <a:pt x="1168400" y="0"/>
                  </a:lnTo>
                  <a:lnTo>
                    <a:pt x="1168400" y="63500"/>
                  </a:lnTo>
                  <a:lnTo>
                    <a:pt x="0" y="63500"/>
                  </a:lnTo>
                  <a:close/>
                </a:path>
              </a:pathLst>
            </a:custGeom>
            <a:solidFill>
              <a:srgbClr val="2E5C8A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168400" cy="10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6764000" y="666750"/>
            <a:ext cx="476250" cy="222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350">
                <a:solidFill>
                  <a:srgbClr val="8A98A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07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47750" y="1209675"/>
            <a:ext cx="8572500" cy="6637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84"/>
              </a:lnSpc>
            </a:pPr>
            <a:r>
              <a:rPr lang="en-US" sz="4800" b="true">
                <a:solidFill>
                  <a:srgbClr val="1B2A3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Top 5 rủi ro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1047750" y="2190750"/>
            <a:ext cx="16192500" cy="4972050"/>
            <a:chOff x="0" y="0"/>
            <a:chExt cx="21590000" cy="6629400"/>
          </a:xfrm>
        </p:grpSpPr>
        <p:grpSp>
          <p:nvGrpSpPr>
            <p:cNvPr name="Group 8" id="8"/>
            <p:cNvGrpSpPr/>
            <p:nvPr/>
          </p:nvGrpSpPr>
          <p:grpSpPr>
            <a:xfrm rot="0">
              <a:off x="0" y="0"/>
              <a:ext cx="21590000" cy="6629400"/>
              <a:chOff x="0" y="0"/>
              <a:chExt cx="21590000" cy="6629400"/>
            </a:xfrm>
          </p:grpSpPr>
          <p:sp>
            <p:nvSpPr>
              <p:cNvPr name="Freeform 9" id="9"/>
              <p:cNvSpPr/>
              <p:nvPr/>
            </p:nvSpPr>
            <p:spPr>
              <a:xfrm flipH="false" flipV="false" rot="0">
                <a:off x="0" y="0"/>
                <a:ext cx="21590000" cy="6629400"/>
              </a:xfrm>
              <a:custGeom>
                <a:avLst/>
                <a:gdLst/>
                <a:ahLst/>
                <a:cxnLst/>
                <a:rect r="r" b="b" t="t" l="l"/>
                <a:pathLst>
                  <a:path h="6629400" w="21590000">
                    <a:moveTo>
                      <a:pt x="0" y="0"/>
                    </a:moveTo>
                    <a:lnTo>
                      <a:pt x="21590000" y="0"/>
                    </a:lnTo>
                    <a:lnTo>
                      <a:pt x="21590000" y="6629400"/>
                    </a:lnTo>
                    <a:lnTo>
                      <a:pt x="0" y="662940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sq">
                <a:solidFill>
                  <a:srgbClr val="D4DCE6"/>
                </a:solidFill>
                <a:prstDash val="solid"/>
                <a:miter/>
              </a:ln>
            </p:spPr>
          </p:sp>
          <p:sp>
            <p:nvSpPr>
              <p:cNvPr name="TextBox 10" id="10"/>
              <p:cNvSpPr txBox="true"/>
              <p:nvPr/>
            </p:nvSpPr>
            <p:spPr>
              <a:xfrm>
                <a:off x="0" y="-38100"/>
                <a:ext cx="21590000" cy="6667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sp>
          <p:nvSpPr>
            <p:cNvPr name="AutoShape 11" id="11"/>
            <p:cNvSpPr/>
            <p:nvPr/>
          </p:nvSpPr>
          <p:spPr>
            <a:xfrm>
              <a:off x="1511300" y="0"/>
              <a:ext cx="0" cy="6629400"/>
            </a:xfrm>
            <a:prstGeom prst="line">
              <a:avLst/>
            </a:prstGeom>
            <a:ln cap="flat" w="12700">
              <a:solidFill>
                <a:srgbClr val="D4DCE6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2" id="12"/>
            <p:cNvSpPr/>
            <p:nvPr/>
          </p:nvSpPr>
          <p:spPr>
            <a:xfrm>
              <a:off x="6908800" y="0"/>
              <a:ext cx="0" cy="6629400"/>
            </a:xfrm>
            <a:prstGeom prst="line">
              <a:avLst/>
            </a:prstGeom>
            <a:ln cap="flat" w="12700">
              <a:solidFill>
                <a:srgbClr val="D4DCE6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3" id="13"/>
            <p:cNvSpPr/>
            <p:nvPr/>
          </p:nvSpPr>
          <p:spPr>
            <a:xfrm>
              <a:off x="12306300" y="0"/>
              <a:ext cx="0" cy="6629400"/>
            </a:xfrm>
            <a:prstGeom prst="line">
              <a:avLst/>
            </a:prstGeom>
            <a:ln cap="flat" w="12700">
              <a:solidFill>
                <a:srgbClr val="D4DCE6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4" id="14"/>
            <p:cNvSpPr/>
            <p:nvPr/>
          </p:nvSpPr>
          <p:spPr>
            <a:xfrm>
              <a:off x="18135600" y="0"/>
              <a:ext cx="0" cy="6629400"/>
            </a:xfrm>
            <a:prstGeom prst="line">
              <a:avLst/>
            </a:prstGeom>
            <a:ln cap="flat" w="12700">
              <a:solidFill>
                <a:srgbClr val="D4DCE6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5" id="15"/>
            <p:cNvSpPr/>
            <p:nvPr/>
          </p:nvSpPr>
          <p:spPr>
            <a:xfrm>
              <a:off x="0" y="787400"/>
              <a:ext cx="21590000" cy="0"/>
            </a:xfrm>
            <a:prstGeom prst="line">
              <a:avLst/>
            </a:prstGeom>
            <a:ln cap="flat" w="25400">
              <a:solidFill>
                <a:srgbClr val="2E5C8A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6" id="16"/>
            <p:cNvSpPr/>
            <p:nvPr/>
          </p:nvSpPr>
          <p:spPr>
            <a:xfrm>
              <a:off x="0" y="1955800"/>
              <a:ext cx="21590000" cy="0"/>
            </a:xfrm>
            <a:prstGeom prst="line">
              <a:avLst/>
            </a:prstGeom>
            <a:ln cap="flat" w="12700">
              <a:solidFill>
                <a:srgbClr val="D4DCE6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7" id="17"/>
            <p:cNvSpPr/>
            <p:nvPr/>
          </p:nvSpPr>
          <p:spPr>
            <a:xfrm>
              <a:off x="0" y="3124200"/>
              <a:ext cx="21590000" cy="0"/>
            </a:xfrm>
            <a:prstGeom prst="line">
              <a:avLst/>
            </a:prstGeom>
            <a:ln cap="flat" w="12700">
              <a:solidFill>
                <a:srgbClr val="D4DCE6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8" id="18"/>
            <p:cNvSpPr/>
            <p:nvPr/>
          </p:nvSpPr>
          <p:spPr>
            <a:xfrm>
              <a:off x="0" y="4292600"/>
              <a:ext cx="21590000" cy="0"/>
            </a:xfrm>
            <a:prstGeom prst="line">
              <a:avLst/>
            </a:prstGeom>
            <a:ln cap="flat" w="12700">
              <a:solidFill>
                <a:srgbClr val="D4DCE6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9" id="19"/>
            <p:cNvSpPr/>
            <p:nvPr/>
          </p:nvSpPr>
          <p:spPr>
            <a:xfrm>
              <a:off x="0" y="5461000"/>
              <a:ext cx="21590000" cy="0"/>
            </a:xfrm>
            <a:prstGeom prst="line">
              <a:avLst/>
            </a:prstGeom>
            <a:ln cap="flat" w="12700">
              <a:solidFill>
                <a:srgbClr val="D4DCE6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20" id="20"/>
            <p:cNvGrpSpPr/>
            <p:nvPr/>
          </p:nvGrpSpPr>
          <p:grpSpPr>
            <a:xfrm rot="0">
              <a:off x="0" y="5461000"/>
              <a:ext cx="21590000" cy="1168400"/>
              <a:chOff x="0" y="0"/>
              <a:chExt cx="21590000" cy="1168400"/>
            </a:xfrm>
          </p:grpSpPr>
          <p:sp>
            <p:nvSpPr>
              <p:cNvPr name="Freeform 21" id="21"/>
              <p:cNvSpPr/>
              <p:nvPr/>
            </p:nvSpPr>
            <p:spPr>
              <a:xfrm flipH="false" flipV="false" rot="0">
                <a:off x="0" y="0"/>
                <a:ext cx="21590000" cy="1168400"/>
              </a:xfrm>
              <a:custGeom>
                <a:avLst/>
                <a:gdLst/>
                <a:ahLst/>
                <a:cxnLst/>
                <a:rect r="r" b="b" t="t" l="l"/>
                <a:pathLst>
                  <a:path h="1168400" w="21590000">
                    <a:moveTo>
                      <a:pt x="0" y="0"/>
                    </a:moveTo>
                    <a:lnTo>
                      <a:pt x="21590000" y="0"/>
                    </a:lnTo>
                    <a:lnTo>
                      <a:pt x="21590000" y="1168400"/>
                    </a:lnTo>
                    <a:lnTo>
                      <a:pt x="0" y="1168400"/>
                    </a:lnTo>
                    <a:close/>
                  </a:path>
                </a:pathLst>
              </a:custGeom>
              <a:solidFill>
                <a:srgbClr val="C0392B">
                  <a:alpha val="9804"/>
                </a:srgbClr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22" id="22"/>
              <p:cNvSpPr txBox="true"/>
              <p:nvPr/>
            </p:nvSpPr>
            <p:spPr>
              <a:xfrm>
                <a:off x="0" y="-38100"/>
                <a:ext cx="21590000" cy="1206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sp>
          <p:nvSpPr>
            <p:cNvPr name="TextBox 23" id="23"/>
            <p:cNvSpPr txBox="true"/>
            <p:nvPr/>
          </p:nvSpPr>
          <p:spPr>
            <a:xfrm rot="0">
              <a:off x="228600" y="177800"/>
              <a:ext cx="1054100" cy="36322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310"/>
                </a:lnSpc>
              </a:pPr>
              <a:r>
                <a:rPr lang="en-US" sz="1650" b="true">
                  <a:solidFill>
                    <a:srgbClr val="2E5C8A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ID</a:t>
              </a:r>
            </a:p>
          </p:txBody>
        </p:sp>
        <p:sp>
          <p:nvSpPr>
            <p:cNvPr name="TextBox 24" id="24"/>
            <p:cNvSpPr txBox="true"/>
            <p:nvPr/>
          </p:nvSpPr>
          <p:spPr>
            <a:xfrm rot="0">
              <a:off x="1739900" y="177800"/>
              <a:ext cx="4940300" cy="36322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310"/>
                </a:lnSpc>
              </a:pPr>
              <a:r>
                <a:rPr lang="en-US" sz="1650" b="true">
                  <a:solidFill>
                    <a:srgbClr val="2E5C8A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RỦI RO</a:t>
              </a:r>
            </a:p>
          </p:txBody>
        </p:sp>
        <p:sp>
          <p:nvSpPr>
            <p:cNvPr name="TextBox 25" id="25"/>
            <p:cNvSpPr txBox="true"/>
            <p:nvPr/>
          </p:nvSpPr>
          <p:spPr>
            <a:xfrm rot="0">
              <a:off x="7137400" y="177800"/>
              <a:ext cx="4940300" cy="36322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310"/>
                </a:lnSpc>
              </a:pPr>
              <a:r>
                <a:rPr lang="en-US" sz="1650" b="true">
                  <a:solidFill>
                    <a:srgbClr val="2E5C8A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PREVENT</a:t>
              </a:r>
            </a:p>
          </p:txBody>
        </p:sp>
        <p:sp>
          <p:nvSpPr>
            <p:cNvPr name="TextBox 26" id="26"/>
            <p:cNvSpPr txBox="true"/>
            <p:nvPr/>
          </p:nvSpPr>
          <p:spPr>
            <a:xfrm rot="0">
              <a:off x="12534900" y="177800"/>
              <a:ext cx="5372100" cy="36322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310"/>
                </a:lnSpc>
              </a:pPr>
              <a:r>
                <a:rPr lang="en-US" sz="1650" b="true">
                  <a:solidFill>
                    <a:srgbClr val="2E5C8A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DETECT</a:t>
              </a:r>
            </a:p>
          </p:txBody>
        </p:sp>
        <p:sp>
          <p:nvSpPr>
            <p:cNvPr name="TextBox 27" id="27"/>
            <p:cNvSpPr txBox="true"/>
            <p:nvPr/>
          </p:nvSpPr>
          <p:spPr>
            <a:xfrm rot="0">
              <a:off x="18364200" y="177800"/>
              <a:ext cx="2997200" cy="36322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310"/>
                </a:lnSpc>
              </a:pPr>
              <a:r>
                <a:rPr lang="en-US" sz="1650" b="true">
                  <a:solidFill>
                    <a:srgbClr val="2E5C8A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TEST</a:t>
              </a:r>
            </a:p>
          </p:txBody>
        </p:sp>
        <p:sp>
          <p:nvSpPr>
            <p:cNvPr name="TextBox 28" id="28"/>
            <p:cNvSpPr txBox="true"/>
            <p:nvPr/>
          </p:nvSpPr>
          <p:spPr>
            <a:xfrm rot="0">
              <a:off x="228600" y="1019175"/>
              <a:ext cx="1054100" cy="3263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R01</a:t>
              </a:r>
            </a:p>
          </p:txBody>
        </p:sp>
        <p:sp>
          <p:nvSpPr>
            <p:cNvPr name="TextBox 29" id="29"/>
            <p:cNvSpPr txBox="true"/>
            <p:nvPr/>
          </p:nvSpPr>
          <p:spPr>
            <a:xfrm rot="0">
              <a:off x="1739900" y="1028700"/>
              <a:ext cx="49403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Phishing lộ mật khẩu</a:t>
              </a:r>
            </a:p>
          </p:txBody>
        </p:sp>
        <p:sp>
          <p:nvSpPr>
            <p:cNvPr name="TextBox 30" id="30"/>
            <p:cNvSpPr txBox="true"/>
            <p:nvPr/>
          </p:nvSpPr>
          <p:spPr>
            <a:xfrm rot="0">
              <a:off x="7137400" y="1028700"/>
              <a:ext cx="49403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MFA TOTP</a:t>
              </a:r>
            </a:p>
          </p:txBody>
        </p:sp>
        <p:sp>
          <p:nvSpPr>
            <p:cNvPr name="TextBox 31" id="31"/>
            <p:cNvSpPr txBox="true"/>
            <p:nvPr/>
          </p:nvSpPr>
          <p:spPr>
            <a:xfrm rot="0">
              <a:off x="12534900" y="1019175"/>
              <a:ext cx="5372100" cy="3263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MFA_FAIL_THRESHOLD</a:t>
              </a:r>
            </a:p>
          </p:txBody>
        </p:sp>
        <p:sp>
          <p:nvSpPr>
            <p:cNvPr name="TextBox 32" id="32"/>
            <p:cNvSpPr txBox="true"/>
            <p:nvPr/>
          </p:nvSpPr>
          <p:spPr>
            <a:xfrm rot="0">
              <a:off x="18364200" y="1019175"/>
              <a:ext cx="2997200" cy="3263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TC09</a:t>
              </a:r>
            </a:p>
          </p:txBody>
        </p:sp>
        <p:sp>
          <p:nvSpPr>
            <p:cNvPr name="TextBox 33" id="33"/>
            <p:cNvSpPr txBox="true"/>
            <p:nvPr/>
          </p:nvSpPr>
          <p:spPr>
            <a:xfrm rot="0">
              <a:off x="228600" y="2187575"/>
              <a:ext cx="1054100" cy="3263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R02</a:t>
              </a:r>
            </a:p>
          </p:txBody>
        </p:sp>
        <p:sp>
          <p:nvSpPr>
            <p:cNvPr name="TextBox 34" id="34"/>
            <p:cNvSpPr txBox="true"/>
            <p:nvPr/>
          </p:nvSpPr>
          <p:spPr>
            <a:xfrm rot="0">
              <a:off x="1739900" y="2197100"/>
              <a:ext cx="49403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Đánh cắp cookie phiên</a:t>
              </a:r>
            </a:p>
          </p:txBody>
        </p:sp>
        <p:sp>
          <p:nvSpPr>
            <p:cNvPr name="TextBox 35" id="35"/>
            <p:cNvSpPr txBox="true"/>
            <p:nvPr/>
          </p:nvSpPr>
          <p:spPr>
            <a:xfrm rot="0">
              <a:off x="7137400" y="2197100"/>
              <a:ext cx="49403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Fingerprint + step-up</a:t>
              </a:r>
            </a:p>
          </p:txBody>
        </p:sp>
        <p:sp>
          <p:nvSpPr>
            <p:cNvPr name="TextBox 36" id="36"/>
            <p:cNvSpPr txBox="true"/>
            <p:nvPr/>
          </p:nvSpPr>
          <p:spPr>
            <a:xfrm rot="0">
              <a:off x="12534900" y="2187575"/>
              <a:ext cx="5372100" cy="3263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SESSION_CONTEXT_MISMATCH</a:t>
              </a:r>
            </a:p>
          </p:txBody>
        </p:sp>
        <p:sp>
          <p:nvSpPr>
            <p:cNvPr name="TextBox 37" id="37"/>
            <p:cNvSpPr txBox="true"/>
            <p:nvPr/>
          </p:nvSpPr>
          <p:spPr>
            <a:xfrm rot="0">
              <a:off x="18364200" y="2187575"/>
              <a:ext cx="2997200" cy="3263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TC14, TC15</a:t>
              </a:r>
            </a:p>
          </p:txBody>
        </p:sp>
        <p:sp>
          <p:nvSpPr>
            <p:cNvPr name="TextBox 38" id="38"/>
            <p:cNvSpPr txBox="true"/>
            <p:nvPr/>
          </p:nvSpPr>
          <p:spPr>
            <a:xfrm rot="0">
              <a:off x="228600" y="3355975"/>
              <a:ext cx="1054100" cy="3263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R03</a:t>
              </a:r>
            </a:p>
          </p:txBody>
        </p:sp>
        <p:sp>
          <p:nvSpPr>
            <p:cNvPr name="TextBox 39" id="39"/>
            <p:cNvSpPr txBox="true"/>
            <p:nvPr/>
          </p:nvSpPr>
          <p:spPr>
            <a:xfrm rot="0">
              <a:off x="1739900" y="3365500"/>
              <a:ext cx="49403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Giả mạo JWT nâng quyền</a:t>
              </a:r>
            </a:p>
          </p:txBody>
        </p:sp>
        <p:sp>
          <p:nvSpPr>
            <p:cNvPr name="TextBox 40" id="40"/>
            <p:cNvSpPr txBox="true"/>
            <p:nvPr/>
          </p:nvSpPr>
          <p:spPr>
            <a:xfrm rot="0">
              <a:off x="7137400" y="3365500"/>
              <a:ext cx="49403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Cố định HS256, role từ DB</a:t>
              </a:r>
            </a:p>
          </p:txBody>
        </p:sp>
        <p:sp>
          <p:nvSpPr>
            <p:cNvPr name="TextBox 41" id="41"/>
            <p:cNvSpPr txBox="true"/>
            <p:nvPr/>
          </p:nvSpPr>
          <p:spPr>
            <a:xfrm rot="0">
              <a:off x="12534900" y="3355975"/>
              <a:ext cx="5372100" cy="3263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JWT_INVALID</a:t>
              </a:r>
            </a:p>
          </p:txBody>
        </p:sp>
        <p:sp>
          <p:nvSpPr>
            <p:cNvPr name="TextBox 42" id="42"/>
            <p:cNvSpPr txBox="true"/>
            <p:nvPr/>
          </p:nvSpPr>
          <p:spPr>
            <a:xfrm rot="0">
              <a:off x="18364200" y="3355975"/>
              <a:ext cx="2997200" cy="3263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TC11, TC12</a:t>
              </a:r>
            </a:p>
          </p:txBody>
        </p:sp>
        <p:sp>
          <p:nvSpPr>
            <p:cNvPr name="TextBox 43" id="43"/>
            <p:cNvSpPr txBox="true"/>
            <p:nvPr/>
          </p:nvSpPr>
          <p:spPr>
            <a:xfrm rot="0">
              <a:off x="228600" y="4524375"/>
              <a:ext cx="1054100" cy="3263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R04</a:t>
              </a:r>
            </a:p>
          </p:txBody>
        </p:sp>
        <p:sp>
          <p:nvSpPr>
            <p:cNvPr name="TextBox 44" id="44"/>
            <p:cNvSpPr txBox="true"/>
            <p:nvPr/>
          </p:nvSpPr>
          <p:spPr>
            <a:xfrm rot="0">
              <a:off x="1739900" y="4533900"/>
              <a:ext cx="49403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IDOR: đổi enrollmentId</a:t>
              </a:r>
            </a:p>
          </p:txBody>
        </p:sp>
        <p:sp>
          <p:nvSpPr>
            <p:cNvPr name="TextBox 45" id="45"/>
            <p:cNvSpPr txBox="true"/>
            <p:nvPr/>
          </p:nvSpPr>
          <p:spPr>
            <a:xfrm rot="0">
              <a:off x="7137400" y="4533900"/>
              <a:ext cx="49403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RBAC + ownership</a:t>
              </a:r>
            </a:p>
          </p:txBody>
        </p:sp>
        <p:sp>
          <p:nvSpPr>
            <p:cNvPr name="TextBox 46" id="46"/>
            <p:cNvSpPr txBox="true"/>
            <p:nvPr/>
          </p:nvSpPr>
          <p:spPr>
            <a:xfrm rot="0">
              <a:off x="12534900" y="4524375"/>
              <a:ext cx="5372100" cy="3263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ACCESS_DENIED_IDOR</a:t>
              </a:r>
            </a:p>
          </p:txBody>
        </p:sp>
        <p:sp>
          <p:nvSpPr>
            <p:cNvPr name="TextBox 47" id="47"/>
            <p:cNvSpPr txBox="true"/>
            <p:nvPr/>
          </p:nvSpPr>
          <p:spPr>
            <a:xfrm rot="0">
              <a:off x="18364200" y="4524375"/>
              <a:ext cx="2997200" cy="3263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TC16, TC17</a:t>
              </a:r>
            </a:p>
          </p:txBody>
        </p:sp>
        <p:sp>
          <p:nvSpPr>
            <p:cNvPr name="TextBox 48" id="48"/>
            <p:cNvSpPr txBox="true"/>
            <p:nvPr/>
          </p:nvSpPr>
          <p:spPr>
            <a:xfrm rot="0">
              <a:off x="228600" y="5692775"/>
              <a:ext cx="1054100" cy="3263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b="true" sz="1575" strike="noStrike" u="none">
                  <a:solidFill>
                    <a:srgbClr val="1B2A3F"/>
                  </a:solidFill>
                  <a:latin typeface="JetBrains Mono Bold"/>
                  <a:ea typeface="JetBrains Mono Bold"/>
                  <a:cs typeface="JetBrains Mono Bold"/>
                  <a:sym typeface="JetBrains Mono Bold"/>
                </a:rPr>
                <a:t>R08</a:t>
              </a:r>
            </a:p>
          </p:txBody>
        </p:sp>
        <p:sp>
          <p:nvSpPr>
            <p:cNvPr name="TextBox 49" id="49"/>
            <p:cNvSpPr txBox="true"/>
            <p:nvPr/>
          </p:nvSpPr>
          <p:spPr>
            <a:xfrm rot="0">
              <a:off x="1739900" y="5702300"/>
              <a:ext cx="49403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b="true" sz="1575" strike="noStrike" u="none">
                  <a:solidFill>
                    <a:srgbClr val="1B2A3F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Insider sửa DB, xoá log</a:t>
              </a:r>
            </a:p>
          </p:txBody>
        </p:sp>
        <p:sp>
          <p:nvSpPr>
            <p:cNvPr name="TextBox 50" id="50"/>
            <p:cNvSpPr txBox="true"/>
            <p:nvPr/>
          </p:nvSpPr>
          <p:spPr>
            <a:xfrm rot="0">
              <a:off x="7137400" y="5702300"/>
              <a:ext cx="49403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b="true" sz="1575" strike="noStrike" u="none">
                  <a:solidFill>
                    <a:srgbClr val="1B2A3F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audit_log append-only</a:t>
              </a:r>
            </a:p>
          </p:txBody>
        </p:sp>
        <p:sp>
          <p:nvSpPr>
            <p:cNvPr name="TextBox 51" id="51"/>
            <p:cNvSpPr txBox="true"/>
            <p:nvPr/>
          </p:nvSpPr>
          <p:spPr>
            <a:xfrm rot="0">
              <a:off x="12534900" y="5692775"/>
              <a:ext cx="5372100" cy="3263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b="true" sz="1575" strike="noStrike" u="none">
                  <a:solidFill>
                    <a:srgbClr val="1B2A3F"/>
                  </a:solidFill>
                  <a:latin typeface="JetBrains Mono Bold"/>
                  <a:ea typeface="JetBrains Mono Bold"/>
                  <a:cs typeface="JetBrains Mono Bold"/>
                  <a:sym typeface="JetBrains Mono Bold"/>
                </a:rPr>
                <a:t>Hash-chain</a:t>
              </a:r>
            </a:p>
          </p:txBody>
        </p:sp>
        <p:sp>
          <p:nvSpPr>
            <p:cNvPr name="TextBox 52" id="52"/>
            <p:cNvSpPr txBox="true"/>
            <p:nvPr/>
          </p:nvSpPr>
          <p:spPr>
            <a:xfrm rot="0">
              <a:off x="18364200" y="5692775"/>
              <a:ext cx="2997200" cy="3263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b="true" sz="1575" strike="noStrike" u="none">
                  <a:solidFill>
                    <a:srgbClr val="1B2A3F"/>
                  </a:solidFill>
                  <a:latin typeface="JetBrains Mono Bold"/>
                  <a:ea typeface="JetBrains Mono Bold"/>
                  <a:cs typeface="JetBrains Mono Bold"/>
                  <a:sym typeface="JetBrains Mono Bold"/>
                </a:rPr>
                <a:t>TC22–TC24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>
  <p:cSld>
    <p:bg>
      <p:bgPr>
        <a:solidFill>
          <a:srgbClr val="ED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47750" y="819150"/>
            <a:ext cx="876300" cy="47625"/>
            <a:chOff x="0" y="0"/>
            <a:chExt cx="1168400" cy="635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68400" cy="63500"/>
            </a:xfrm>
            <a:custGeom>
              <a:avLst/>
              <a:gdLst/>
              <a:ahLst/>
              <a:cxnLst/>
              <a:rect r="r" b="b" t="t" l="l"/>
              <a:pathLst>
                <a:path h="63500" w="1168400">
                  <a:moveTo>
                    <a:pt x="0" y="0"/>
                  </a:moveTo>
                  <a:lnTo>
                    <a:pt x="1168400" y="0"/>
                  </a:lnTo>
                  <a:lnTo>
                    <a:pt x="1168400" y="63500"/>
                  </a:lnTo>
                  <a:lnTo>
                    <a:pt x="0" y="63500"/>
                  </a:lnTo>
                  <a:close/>
                </a:path>
              </a:pathLst>
            </a:custGeom>
            <a:solidFill>
              <a:srgbClr val="2E5C8A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168400" cy="10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6764000" y="666750"/>
            <a:ext cx="476250" cy="222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350">
                <a:solidFill>
                  <a:srgbClr val="8A98A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08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2286000" y="2847975"/>
            <a:ext cx="13716000" cy="2695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050"/>
              </a:lnSpc>
            </a:pPr>
            <a:r>
              <a:rPr lang="en-US" b="true" sz="15750" spc="1260">
                <a:solidFill>
                  <a:srgbClr val="1B2A3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DEMO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7524750" y="5619750"/>
            <a:ext cx="3238500" cy="38100"/>
            <a:chOff x="0" y="0"/>
            <a:chExt cx="4318000" cy="508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4318000" cy="50800"/>
            </a:xfrm>
            <a:custGeom>
              <a:avLst/>
              <a:gdLst/>
              <a:ahLst/>
              <a:cxnLst/>
              <a:rect r="r" b="b" t="t" l="l"/>
              <a:pathLst>
                <a:path h="50800" w="4318000">
                  <a:moveTo>
                    <a:pt x="0" y="0"/>
                  </a:moveTo>
                  <a:lnTo>
                    <a:pt x="4318000" y="0"/>
                  </a:lnTo>
                  <a:lnTo>
                    <a:pt x="4318000" y="50800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rgbClr val="2E5C8A"/>
            </a:solidFill>
            <a:ln cap="sq">
              <a:noFill/>
              <a:prstDash val="solid"/>
              <a:miter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4318000" cy="88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0" id="10"/>
          <p:cNvSpPr txBox="true"/>
          <p:nvPr/>
        </p:nvSpPr>
        <p:spPr>
          <a:xfrm rot="0">
            <a:off x="3429000" y="5819775"/>
            <a:ext cx="11430000" cy="3314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729"/>
              </a:lnSpc>
              <a:spcBef>
                <a:spcPct val="0"/>
              </a:spcBef>
            </a:pPr>
            <a:r>
              <a:rPr lang="en-US" sz="1950" strike="noStrike" u="none">
                <a:solidFill>
                  <a:srgbClr val="2E5C8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Màn hình live  ·  KB2 đánh cắp cookie  ·  KB6 insider sửa DB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47750" y="819150"/>
            <a:ext cx="876300" cy="47625"/>
            <a:chOff x="0" y="0"/>
            <a:chExt cx="1168400" cy="635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68400" cy="63500"/>
            </a:xfrm>
            <a:custGeom>
              <a:avLst/>
              <a:gdLst/>
              <a:ahLst/>
              <a:cxnLst/>
              <a:rect r="r" b="b" t="t" l="l"/>
              <a:pathLst>
                <a:path h="63500" w="1168400">
                  <a:moveTo>
                    <a:pt x="0" y="0"/>
                  </a:moveTo>
                  <a:lnTo>
                    <a:pt x="1168400" y="0"/>
                  </a:lnTo>
                  <a:lnTo>
                    <a:pt x="1168400" y="63500"/>
                  </a:lnTo>
                  <a:lnTo>
                    <a:pt x="0" y="63500"/>
                  </a:lnTo>
                  <a:close/>
                </a:path>
              </a:pathLst>
            </a:custGeom>
            <a:solidFill>
              <a:srgbClr val="2E5C8A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168400" cy="10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6764000" y="666750"/>
            <a:ext cx="476250" cy="222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350">
                <a:solidFill>
                  <a:srgbClr val="8A98A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09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47750" y="1304925"/>
            <a:ext cx="8572500" cy="6637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84"/>
              </a:lnSpc>
            </a:pPr>
            <a:r>
              <a:rPr lang="en-US" sz="4800" b="true">
                <a:solidFill>
                  <a:srgbClr val="1B2A3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Kết quả kiểm thử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47750" y="3181350"/>
            <a:ext cx="6572250" cy="2181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50"/>
              </a:lnSpc>
            </a:pPr>
            <a:r>
              <a:rPr lang="en-US" sz="12750" b="true">
                <a:solidFill>
                  <a:srgbClr val="1B2A3F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25/25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47750" y="5543550"/>
            <a:ext cx="4953000" cy="11287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037"/>
              </a:lnSpc>
              <a:spcBef>
                <a:spcPct val="0"/>
              </a:spcBef>
            </a:pPr>
            <a:r>
              <a:rPr lang="en-US" sz="2250" strike="noStrike" u="none">
                <a:solidFill>
                  <a:srgbClr val="2E5C8A"/>
                </a:solidFill>
                <a:latin typeface="IBM Plex Sans"/>
                <a:ea typeface="IBM Plex Sans"/>
                <a:cs typeface="IBM Plex Sans"/>
                <a:sym typeface="IBM Plex Sans"/>
              </a:rPr>
              <a:t>test case PASS</a:t>
            </a:r>
          </a:p>
          <a:p>
            <a:pPr algn="l" marL="0" indent="0" lvl="0">
              <a:lnSpc>
                <a:spcPts val="3037"/>
              </a:lnSpc>
              <a:spcBef>
                <a:spcPct val="0"/>
              </a:spcBef>
            </a:pPr>
            <a:r>
              <a:rPr lang="en-US" sz="2250" strike="noStrike" u="none">
                <a:solidFill>
                  <a:srgbClr val="2E5C8A"/>
                </a:solidFill>
                <a:latin typeface="IBM Plex Sans"/>
                <a:ea typeface="IBM Plex Sans"/>
                <a:cs typeface="IBM Plex Sans"/>
                <a:sym typeface="IBM Plex Sans"/>
              </a:rPr>
              <a:t>6 luồng bình thường</a:t>
            </a:r>
          </a:p>
          <a:p>
            <a:pPr algn="l" marL="0" indent="0" lvl="0">
              <a:lnSpc>
                <a:spcPts val="3037"/>
              </a:lnSpc>
              <a:spcBef>
                <a:spcPct val="0"/>
              </a:spcBef>
            </a:pPr>
            <a:r>
              <a:rPr lang="en-US" sz="2250" strike="noStrike" u="none">
                <a:solidFill>
                  <a:srgbClr val="2E5C8A"/>
                </a:solidFill>
                <a:latin typeface="IBM Plex Sans"/>
                <a:ea typeface="IBM Plex Sans"/>
                <a:cs typeface="IBM Plex Sans"/>
                <a:sym typeface="IBM Plex Sans"/>
              </a:rPr>
              <a:t>+ 19 test tấn công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7620000" y="2190750"/>
            <a:ext cx="9429750" cy="5905500"/>
            <a:chOff x="0" y="0"/>
            <a:chExt cx="12573000" cy="78740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2573000" cy="7874000"/>
            </a:xfrm>
            <a:custGeom>
              <a:avLst/>
              <a:gdLst/>
              <a:ahLst/>
              <a:cxnLst/>
              <a:rect r="r" b="b" t="t" l="l"/>
              <a:pathLst>
                <a:path h="7874000" w="12573000">
                  <a:moveTo>
                    <a:pt x="0" y="0"/>
                  </a:moveTo>
                  <a:lnTo>
                    <a:pt x="12573000" y="0"/>
                  </a:lnTo>
                  <a:lnTo>
                    <a:pt x="12573000" y="7874000"/>
                  </a:lnTo>
                  <a:lnTo>
                    <a:pt x="0" y="7874000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4DCE6"/>
              </a:solidFill>
              <a:prstDash val="lgDash"/>
              <a:miter/>
            </a:ln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12573000" cy="791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2" id="12"/>
          <p:cNvSpPr txBox="true"/>
          <p:nvPr/>
        </p:nvSpPr>
        <p:spPr>
          <a:xfrm rot="0">
            <a:off x="8477250" y="8391525"/>
            <a:ext cx="7620000" cy="5676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310"/>
              </a:lnSpc>
              <a:spcBef>
                <a:spcPct val="0"/>
              </a:spcBef>
            </a:pPr>
            <a:r>
              <a:rPr lang="en-US" sz="1650" strike="noStrike" u="none">
                <a:solidFill>
                  <a:srgbClr val="8A98A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Trích kết quả thực tế — docs/evidence/07-run-tests-output.txt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7953375" y="2466975"/>
            <a:ext cx="8763000" cy="40033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37"/>
              </a:lnSpc>
            </a:pPr>
            <a:r>
              <a:rPr lang="en-US" sz="1425">
                <a:solidFill>
                  <a:srgbClr val="3C4A5C"/>
                </a:solidFill>
                <a:latin typeface="Arimo"/>
                <a:ea typeface="Arimo"/>
                <a:cs typeface="Arimo"/>
                <a:sym typeface="Arimo"/>
              </a:rPr>
              <a:t>$ node tests/run-tests.mjs</a:t>
            </a:r>
          </a:p>
          <a:p>
            <a:pPr algn="l">
              <a:lnSpc>
                <a:spcPts val="2137"/>
              </a:lnSpc>
            </a:pPr>
          </a:p>
          <a:p>
            <a:pPr algn="l">
              <a:lnSpc>
                <a:spcPts val="2137"/>
              </a:lnSpc>
            </a:pPr>
            <a:r>
              <a:rPr lang="en-US" sz="1425">
                <a:solidFill>
                  <a:srgbClr val="3C4A5C"/>
                </a:solidFill>
                <a:latin typeface="Arimo"/>
                <a:ea typeface="Arimo"/>
                <a:cs typeface="Arimo"/>
                <a:sym typeface="Arimo"/>
              </a:rPr>
              <a:t> TC01   PASS   bat buoc MFA lan dau</a:t>
            </a:r>
          </a:p>
          <a:p>
            <a:pPr algn="l">
              <a:lnSpc>
                <a:spcPts val="2137"/>
              </a:lnSpc>
            </a:pPr>
            <a:r>
              <a:rPr lang="en-US" sz="1425">
                <a:solidFill>
                  <a:srgbClr val="3C4A5C"/>
                </a:solidFill>
                <a:latin typeface="Arimo"/>
                <a:ea typeface="Arimo"/>
                <a:cs typeface="Arimo"/>
                <a:sym typeface="Arimo"/>
              </a:rPr>
              <a:t> TC11   PASS   sua payload JWT</a:t>
            </a:r>
          </a:p>
          <a:p>
            <a:pPr algn="l">
              <a:lnSpc>
                <a:spcPts val="2137"/>
              </a:lnSpc>
            </a:pPr>
            <a:r>
              <a:rPr lang="en-US" sz="1425">
                <a:solidFill>
                  <a:srgbClr val="3C4A5C"/>
                </a:solidFill>
                <a:latin typeface="Arimo"/>
                <a:ea typeface="Arimo"/>
                <a:cs typeface="Arimo"/>
                <a:sym typeface="Arimo"/>
              </a:rPr>
              <a:t> TC12   PASS   JWT alg=none</a:t>
            </a:r>
          </a:p>
          <a:p>
            <a:pPr algn="l">
              <a:lnSpc>
                <a:spcPts val="2137"/>
              </a:lnSpc>
            </a:pPr>
            <a:r>
              <a:rPr lang="en-US" sz="1425">
                <a:solidFill>
                  <a:srgbClr val="3C4A5C"/>
                </a:solidFill>
                <a:latin typeface="Arimo"/>
                <a:ea typeface="Arimo"/>
                <a:cs typeface="Arimo"/>
                <a:sym typeface="Arimo"/>
              </a:rPr>
              <a:t> TC05   PASS   chuoi hash 268 dong, khong vi pham</a:t>
            </a:r>
          </a:p>
          <a:p>
            <a:pPr algn="l">
              <a:lnSpc>
                <a:spcPts val="2137"/>
              </a:lnSpc>
            </a:pPr>
            <a:r>
              <a:rPr lang="en-US" sz="1425">
                <a:solidFill>
                  <a:srgbClr val="3C4A5C"/>
                </a:solidFill>
                <a:latin typeface="Arimo"/>
                <a:ea typeface="Arimo"/>
                <a:cs typeface="Arimo"/>
                <a:sym typeface="Arimo"/>
              </a:rPr>
              <a:t> TC22   PASS   sua diem thang trong DB -&gt; phat hien lech</a:t>
            </a:r>
          </a:p>
          <a:p>
            <a:pPr algn="l">
              <a:lnSpc>
                <a:spcPts val="2137"/>
              </a:lnSpc>
            </a:pPr>
            <a:r>
              <a:rPr lang="en-US" sz="1425">
                <a:solidFill>
                  <a:srgbClr val="3C4A5C"/>
                </a:solidFill>
                <a:latin typeface="Arimo"/>
                <a:ea typeface="Arimo"/>
                <a:cs typeface="Arimo"/>
                <a:sym typeface="Arimo"/>
              </a:rPr>
              <a:t> TC24   PASS   sua audit id 3 -&gt; dut chuoi hash</a:t>
            </a:r>
          </a:p>
          <a:p>
            <a:pPr algn="l">
              <a:lnSpc>
                <a:spcPts val="2137"/>
              </a:lnSpc>
            </a:pPr>
            <a:r>
              <a:rPr lang="en-US" sz="1425">
                <a:solidFill>
                  <a:srgbClr val="3C4A5C"/>
                </a:solidFill>
                <a:latin typeface="Arimo"/>
                <a:ea typeface="Arimo"/>
                <a:cs typeface="Arimo"/>
                <a:sym typeface="Arimo"/>
              </a:rPr>
              <a:t> TC23   PASS   app_user bi tu choi 4 lenh pha hoai</a:t>
            </a:r>
          </a:p>
          <a:p>
            <a:pPr algn="l">
              <a:lnSpc>
                <a:spcPts val="2137"/>
              </a:lnSpc>
            </a:pPr>
            <a:r>
              <a:rPr lang="en-US" sz="1425">
                <a:solidFill>
                  <a:srgbClr val="3C4A5C"/>
                </a:solidFill>
                <a:latin typeface="Arimo"/>
                <a:ea typeface="Arimo"/>
                <a:cs typeface="Arimo"/>
                <a:sym typeface="Arimo"/>
              </a:rPr>
              <a:t> TC19   PASS   SQLi qua WAF -&gt; 403</a:t>
            </a:r>
          </a:p>
          <a:p>
            <a:pPr algn="l">
              <a:lnSpc>
                <a:spcPts val="2137"/>
              </a:lnSpc>
            </a:pPr>
            <a:r>
              <a:rPr lang="en-US" sz="1425">
                <a:solidFill>
                  <a:srgbClr val="3C4A5C"/>
                </a:solidFill>
                <a:latin typeface="Arimo"/>
                <a:ea typeface="Arimo"/>
                <a:cs typeface="Arimo"/>
                <a:sym typeface="Arimo"/>
              </a:rPr>
              <a:t> TC21   PASS   chi waf anh xa port ra host</a:t>
            </a:r>
          </a:p>
          <a:p>
            <a:pPr algn="l">
              <a:lnSpc>
                <a:spcPts val="2137"/>
              </a:lnSpc>
            </a:pPr>
            <a:r>
              <a:rPr lang="en-US" sz="1425">
                <a:solidFill>
                  <a:srgbClr val="3C4A5C"/>
                </a:solidFill>
                <a:latin typeface="Arimo"/>
                <a:ea typeface="Arimo"/>
                <a:cs typeface="Arimo"/>
                <a:sym typeface="Arimo"/>
              </a:rPr>
              <a:t> TC09   PASS   3 lan OTP sai -&gt; khoa, canh bao HIGH</a:t>
            </a:r>
          </a:p>
          <a:p>
            <a:pPr algn="l">
              <a:lnSpc>
                <a:spcPts val="2137"/>
              </a:lnSpc>
            </a:pPr>
            <a:r>
              <a:rPr lang="en-US" sz="1425">
                <a:solidFill>
                  <a:srgbClr val="3C4A5C"/>
                </a:solidFill>
                <a:latin typeface="Arimo"/>
                <a:ea typeface="Arimo"/>
                <a:cs typeface="Arimo"/>
                <a:sym typeface="Arimo"/>
              </a:rPr>
              <a:t> ...</a:t>
            </a:r>
          </a:p>
          <a:p>
            <a:pPr algn="l">
              <a:lnSpc>
                <a:spcPts val="2137"/>
              </a:lnSpc>
            </a:pPr>
          </a:p>
          <a:p>
            <a:pPr algn="l">
              <a:lnSpc>
                <a:spcPts val="2137"/>
              </a:lnSpc>
            </a:pPr>
            <a:r>
              <a:rPr lang="en-US" sz="1425">
                <a:solidFill>
                  <a:srgbClr val="3C4A5C"/>
                </a:solidFill>
                <a:latin typeface="Arimo"/>
                <a:ea typeface="Arimo"/>
                <a:cs typeface="Arimo"/>
                <a:sym typeface="Arimo"/>
              </a:rPr>
              <a:t>25/25 PASS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>
  <p:cSld>
    <p:bg>
      <p:bgPr>
        <a:solidFill>
          <a:srgbClr val="ED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47750" y="819150"/>
            <a:ext cx="876300" cy="47625"/>
            <a:chOff x="0" y="0"/>
            <a:chExt cx="1168400" cy="635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68400" cy="63500"/>
            </a:xfrm>
            <a:custGeom>
              <a:avLst/>
              <a:gdLst/>
              <a:ahLst/>
              <a:cxnLst/>
              <a:rect r="r" b="b" t="t" l="l"/>
              <a:pathLst>
                <a:path h="63500" w="1168400">
                  <a:moveTo>
                    <a:pt x="0" y="0"/>
                  </a:moveTo>
                  <a:lnTo>
                    <a:pt x="1168400" y="0"/>
                  </a:lnTo>
                  <a:lnTo>
                    <a:pt x="1168400" y="63500"/>
                  </a:lnTo>
                  <a:lnTo>
                    <a:pt x="0" y="63500"/>
                  </a:lnTo>
                  <a:close/>
                </a:path>
              </a:pathLst>
            </a:custGeom>
            <a:solidFill>
              <a:srgbClr val="2E5C8A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168400" cy="10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6764000" y="666750"/>
            <a:ext cx="476250" cy="222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350">
                <a:solidFill>
                  <a:srgbClr val="8A98A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10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47750" y="1257300"/>
            <a:ext cx="10477500" cy="6637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84"/>
              </a:lnSpc>
            </a:pPr>
            <a:r>
              <a:rPr lang="en-US" sz="4800" b="true">
                <a:solidFill>
                  <a:srgbClr val="1B2A3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Trade-off có số đo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1047750" y="2476500"/>
            <a:ext cx="15621000" cy="3790950"/>
            <a:chOff x="0" y="0"/>
            <a:chExt cx="20828000" cy="5054600"/>
          </a:xfrm>
        </p:grpSpPr>
        <p:grpSp>
          <p:nvGrpSpPr>
            <p:cNvPr name="Group 8" id="8"/>
            <p:cNvGrpSpPr/>
            <p:nvPr/>
          </p:nvGrpSpPr>
          <p:grpSpPr>
            <a:xfrm rot="0">
              <a:off x="0" y="0"/>
              <a:ext cx="20828000" cy="5054600"/>
              <a:chOff x="0" y="0"/>
              <a:chExt cx="20828000" cy="5054600"/>
            </a:xfrm>
          </p:grpSpPr>
          <p:sp>
            <p:nvSpPr>
              <p:cNvPr name="Freeform 9" id="9"/>
              <p:cNvSpPr/>
              <p:nvPr/>
            </p:nvSpPr>
            <p:spPr>
              <a:xfrm flipH="false" flipV="false" rot="0">
                <a:off x="0" y="0"/>
                <a:ext cx="20828000" cy="5054600"/>
              </a:xfrm>
              <a:custGeom>
                <a:avLst/>
                <a:gdLst/>
                <a:ahLst/>
                <a:cxnLst/>
                <a:rect r="r" b="b" t="t" l="l"/>
                <a:pathLst>
                  <a:path h="5054600" w="20828000">
                    <a:moveTo>
                      <a:pt x="0" y="0"/>
                    </a:moveTo>
                    <a:lnTo>
                      <a:pt x="20828000" y="0"/>
                    </a:lnTo>
                    <a:lnTo>
                      <a:pt x="20828000" y="5054600"/>
                    </a:lnTo>
                    <a:lnTo>
                      <a:pt x="0" y="505460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sq">
                <a:solidFill>
                  <a:srgbClr val="D4DCE6"/>
                </a:solidFill>
                <a:prstDash val="solid"/>
                <a:miter/>
              </a:ln>
            </p:spPr>
          </p:sp>
          <p:sp>
            <p:nvSpPr>
              <p:cNvPr name="TextBox 10" id="10"/>
              <p:cNvSpPr txBox="true"/>
              <p:nvPr/>
            </p:nvSpPr>
            <p:spPr>
              <a:xfrm>
                <a:off x="0" y="-38100"/>
                <a:ext cx="20828000" cy="50927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sp>
          <p:nvSpPr>
            <p:cNvPr name="AutoShape 11" id="11"/>
            <p:cNvSpPr/>
            <p:nvPr/>
          </p:nvSpPr>
          <p:spPr>
            <a:xfrm>
              <a:off x="8747760" y="0"/>
              <a:ext cx="0" cy="5054600"/>
            </a:xfrm>
            <a:prstGeom prst="line">
              <a:avLst/>
            </a:prstGeom>
            <a:ln cap="flat" w="12700">
              <a:solidFill>
                <a:srgbClr val="D4DCE6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2" id="12"/>
            <p:cNvSpPr/>
            <p:nvPr/>
          </p:nvSpPr>
          <p:spPr>
            <a:xfrm>
              <a:off x="13954760" y="0"/>
              <a:ext cx="0" cy="5054600"/>
            </a:xfrm>
            <a:prstGeom prst="line">
              <a:avLst/>
            </a:prstGeom>
            <a:ln cap="flat" w="12700">
              <a:solidFill>
                <a:srgbClr val="D4DCE6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3" id="13"/>
            <p:cNvSpPr/>
            <p:nvPr/>
          </p:nvSpPr>
          <p:spPr>
            <a:xfrm>
              <a:off x="0" y="787400"/>
              <a:ext cx="20828000" cy="0"/>
            </a:xfrm>
            <a:prstGeom prst="line">
              <a:avLst/>
            </a:prstGeom>
            <a:ln cap="flat" w="25400">
              <a:solidFill>
                <a:srgbClr val="2E5C8A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4" id="14"/>
            <p:cNvSpPr/>
            <p:nvPr/>
          </p:nvSpPr>
          <p:spPr>
            <a:xfrm>
              <a:off x="0" y="2209800"/>
              <a:ext cx="20828000" cy="0"/>
            </a:xfrm>
            <a:prstGeom prst="line">
              <a:avLst/>
            </a:prstGeom>
            <a:ln cap="flat" w="12700">
              <a:solidFill>
                <a:srgbClr val="D4DCE6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5" id="15"/>
            <p:cNvSpPr/>
            <p:nvPr/>
          </p:nvSpPr>
          <p:spPr>
            <a:xfrm>
              <a:off x="0" y="3632200"/>
              <a:ext cx="20828000" cy="0"/>
            </a:xfrm>
            <a:prstGeom prst="line">
              <a:avLst/>
            </a:prstGeom>
            <a:ln cap="flat" w="12700">
              <a:solidFill>
                <a:srgbClr val="D4DCE6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TextBox 16" id="16"/>
            <p:cNvSpPr txBox="true"/>
            <p:nvPr/>
          </p:nvSpPr>
          <p:spPr>
            <a:xfrm rot="0">
              <a:off x="228600" y="177800"/>
              <a:ext cx="8290560" cy="36322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310"/>
                </a:lnSpc>
              </a:pPr>
              <a:r>
                <a:rPr lang="en-US" sz="1650" b="true">
                  <a:solidFill>
                    <a:srgbClr val="2E5C8A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QUYẾT ĐỊNH</a:t>
              </a:r>
            </a:p>
          </p:txBody>
        </p:sp>
        <p:sp>
          <p:nvSpPr>
            <p:cNvPr name="TextBox 17" id="17"/>
            <p:cNvSpPr txBox="true"/>
            <p:nvPr/>
          </p:nvSpPr>
          <p:spPr>
            <a:xfrm rot="0">
              <a:off x="8976360" y="177800"/>
              <a:ext cx="4749800" cy="36322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310"/>
                </a:lnSpc>
              </a:pPr>
              <a:r>
                <a:rPr lang="en-US" sz="1650" b="true">
                  <a:solidFill>
                    <a:srgbClr val="2E5C8A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CÁI GIÁ ĐO ĐƯỢC</a:t>
              </a:r>
            </a:p>
          </p:txBody>
        </p:sp>
        <p:sp>
          <p:nvSpPr>
            <p:cNvPr name="TextBox 18" id="18"/>
            <p:cNvSpPr txBox="true"/>
            <p:nvPr/>
          </p:nvSpPr>
          <p:spPr>
            <a:xfrm rot="0">
              <a:off x="14183360" y="177800"/>
              <a:ext cx="6416040" cy="36322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310"/>
                </a:lnSpc>
              </a:pPr>
              <a:r>
                <a:rPr lang="en-US" sz="1650" b="true">
                  <a:solidFill>
                    <a:srgbClr val="2E5C8A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NHÓM CHỌN</a:t>
              </a:r>
            </a:p>
          </p:txBody>
        </p:sp>
        <p:sp>
          <p:nvSpPr>
            <p:cNvPr name="TextBox 19" id="19"/>
            <p:cNvSpPr txBox="true"/>
            <p:nvPr/>
          </p:nvSpPr>
          <p:spPr>
            <a:xfrm rot="0">
              <a:off x="228600" y="1019175"/>
              <a:ext cx="8290560" cy="37528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250"/>
                </a:lnSpc>
                <a:spcBef>
                  <a:spcPct val="0"/>
                </a:spcBef>
              </a:pPr>
              <a:r>
                <a:rPr lang="en-US" sz="1800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T2 — Step-up OTP mỗi lần sửa điểm</a:t>
              </a:r>
            </a:p>
          </p:txBody>
        </p:sp>
        <p:sp>
          <p:nvSpPr>
            <p:cNvPr name="TextBox 20" id="20"/>
            <p:cNvSpPr txBox="true"/>
            <p:nvPr/>
          </p:nvSpPr>
          <p:spPr>
            <a:xfrm rot="0">
              <a:off x="8976360" y="1019175"/>
              <a:ext cx="4749800" cy="37528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250"/>
                </a:lnSpc>
                <a:spcBef>
                  <a:spcPct val="0"/>
                </a:spcBef>
              </a:pPr>
              <a:r>
                <a:rPr lang="en-US" sz="1800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OTP không dùng lại được</a:t>
              </a:r>
            </a:p>
          </p:txBody>
        </p:sp>
        <p:sp>
          <p:nvSpPr>
            <p:cNvPr name="TextBox 21" id="21"/>
            <p:cNvSpPr txBox="true"/>
            <p:nvPr/>
          </p:nvSpPr>
          <p:spPr>
            <a:xfrm rot="0">
              <a:off x="14183360" y="1019175"/>
              <a:ext cx="6416040" cy="37528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250"/>
                </a:lnSpc>
                <a:spcBef>
                  <a:spcPct val="0"/>
                </a:spcBef>
              </a:pPr>
              <a:r>
                <a:rPr lang="en-US" sz="1800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Giữ cho prototype · dài hạn sudo mode</a:t>
              </a:r>
            </a:p>
          </p:txBody>
        </p:sp>
        <p:sp>
          <p:nvSpPr>
            <p:cNvPr name="TextBox 22" id="22"/>
            <p:cNvSpPr txBox="true"/>
            <p:nvPr/>
          </p:nvSpPr>
          <p:spPr>
            <a:xfrm rot="0">
              <a:off x="228600" y="2441575"/>
              <a:ext cx="8290560" cy="37528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250"/>
                </a:lnSpc>
                <a:spcBef>
                  <a:spcPct val="0"/>
                </a:spcBef>
              </a:pPr>
              <a:r>
                <a:rPr lang="en-US" sz="1800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T5 — WAF Paranoia Level</a:t>
              </a:r>
            </a:p>
          </p:txBody>
        </p:sp>
        <p:sp>
          <p:nvSpPr>
            <p:cNvPr name="TextBox 23" id="23"/>
            <p:cNvSpPr txBox="true"/>
            <p:nvPr/>
          </p:nvSpPr>
          <p:spPr>
            <a:xfrm rot="0">
              <a:off x="8976360" y="2441575"/>
              <a:ext cx="4749800" cy="37528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250"/>
                </a:lnSpc>
                <a:spcBef>
                  <a:spcPct val="0"/>
                </a:spcBef>
              </a:pPr>
              <a:r>
                <a:rPr lang="en-US" sz="1800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hợp lệ bị chặn oan (PL1)</a:t>
              </a:r>
            </a:p>
          </p:txBody>
        </p:sp>
        <p:sp>
          <p:nvSpPr>
            <p:cNvPr name="TextBox 24" id="24"/>
            <p:cNvSpPr txBox="true"/>
            <p:nvPr/>
          </p:nvSpPr>
          <p:spPr>
            <a:xfrm rot="0">
              <a:off x="14183360" y="2441575"/>
              <a:ext cx="6416040" cy="37528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250"/>
                </a:lnSpc>
                <a:spcBef>
                  <a:spcPct val="0"/>
                </a:spcBef>
              </a:pPr>
              <a:r>
                <a:rPr lang="en-US" sz="1800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PL1 — PL2 chặn oan 1/15, không bắt thêm</a:t>
              </a:r>
            </a:p>
          </p:txBody>
        </p:sp>
        <p:sp>
          <p:nvSpPr>
            <p:cNvPr name="TextBox 25" id="25"/>
            <p:cNvSpPr txBox="true"/>
            <p:nvPr/>
          </p:nvSpPr>
          <p:spPr>
            <a:xfrm rot="0">
              <a:off x="228600" y="3863975"/>
              <a:ext cx="8290560" cy="37528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250"/>
                </a:lnSpc>
                <a:spcBef>
                  <a:spcPct val="0"/>
                </a:spcBef>
              </a:pPr>
              <a:r>
                <a:rPr lang="en-US" sz="1800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T7 — Backup hằng ngày</a:t>
              </a:r>
            </a:p>
          </p:txBody>
        </p:sp>
        <p:sp>
          <p:nvSpPr>
            <p:cNvPr name="TextBox 26" id="26"/>
            <p:cNvSpPr txBox="true"/>
            <p:nvPr/>
          </p:nvSpPr>
          <p:spPr>
            <a:xfrm rot="0">
              <a:off x="8976360" y="3863975"/>
              <a:ext cx="4749800" cy="37528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250"/>
                </a:lnSpc>
                <a:spcBef>
                  <a:spcPct val="0"/>
                </a:spcBef>
              </a:pPr>
              <a:r>
                <a:rPr lang="en-US" sz="1800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RTO đo được khi khôi phục</a:t>
              </a:r>
            </a:p>
          </p:txBody>
        </p:sp>
        <p:sp>
          <p:nvSpPr>
            <p:cNvPr name="TextBox 27" id="27"/>
            <p:cNvSpPr txBox="true"/>
            <p:nvPr/>
          </p:nvSpPr>
          <p:spPr>
            <a:xfrm rot="0">
              <a:off x="14183360" y="3863975"/>
              <a:ext cx="6416040" cy="37528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250"/>
                </a:lnSpc>
                <a:spcBef>
                  <a:spcPct val="0"/>
                </a:spcBef>
              </a:pPr>
              <a:r>
                <a:rPr lang="en-US" sz="1800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Hằng ngày — RPO 24 giờ</a:t>
              </a:r>
            </a:p>
          </p:txBody>
        </p:sp>
      </p:grpSp>
      <p:sp>
        <p:nvSpPr>
          <p:cNvPr name="TextBox 28" id="28"/>
          <p:cNvSpPr txBox="true"/>
          <p:nvPr/>
        </p:nvSpPr>
        <p:spPr>
          <a:xfrm rot="0">
            <a:off x="7953375" y="3667125"/>
            <a:ext cx="3619500" cy="4552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779"/>
              </a:lnSpc>
              <a:spcBef>
                <a:spcPct val="0"/>
              </a:spcBef>
            </a:pPr>
            <a:r>
              <a:rPr lang="en-US" b="true" sz="2700" strike="noStrike" u="none">
                <a:solidFill>
                  <a:srgbClr val="1B2A3F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1 sửa / 30 giây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7953375" y="4733925"/>
            <a:ext cx="2952750" cy="4552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779"/>
              </a:lnSpc>
              <a:spcBef>
                <a:spcPct val="0"/>
              </a:spcBef>
            </a:pPr>
            <a:r>
              <a:rPr lang="en-US" b="true" sz="2700" strike="noStrike" u="none">
                <a:solidFill>
                  <a:srgbClr val="1B2A3F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0/15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7953375" y="5800725"/>
            <a:ext cx="2952750" cy="4552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779"/>
              </a:lnSpc>
              <a:spcBef>
                <a:spcPct val="0"/>
              </a:spcBef>
            </a:pPr>
            <a:r>
              <a:rPr lang="en-US" b="true" sz="2700" strike="noStrike" u="none">
                <a:solidFill>
                  <a:srgbClr val="1B2A3F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5–6 giây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47750" y="819150"/>
            <a:ext cx="876300" cy="47625"/>
            <a:chOff x="0" y="0"/>
            <a:chExt cx="1168400" cy="635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68400" cy="63500"/>
            </a:xfrm>
            <a:custGeom>
              <a:avLst/>
              <a:gdLst/>
              <a:ahLst/>
              <a:cxnLst/>
              <a:rect r="r" b="b" t="t" l="l"/>
              <a:pathLst>
                <a:path h="63500" w="1168400">
                  <a:moveTo>
                    <a:pt x="0" y="0"/>
                  </a:moveTo>
                  <a:lnTo>
                    <a:pt x="1168400" y="0"/>
                  </a:lnTo>
                  <a:lnTo>
                    <a:pt x="1168400" y="63500"/>
                  </a:lnTo>
                  <a:lnTo>
                    <a:pt x="0" y="63500"/>
                  </a:lnTo>
                  <a:close/>
                </a:path>
              </a:pathLst>
            </a:custGeom>
            <a:solidFill>
              <a:srgbClr val="2E5C8A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168400" cy="10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6764000" y="666750"/>
            <a:ext cx="476250" cy="222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350">
                <a:solidFill>
                  <a:srgbClr val="8A98A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11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47750" y="1209675"/>
            <a:ext cx="13335000" cy="6637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84"/>
              </a:lnSpc>
            </a:pPr>
            <a:r>
              <a:rPr lang="en-US" sz="4800" b="true">
                <a:solidFill>
                  <a:srgbClr val="1B2A3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Hạn chế và hướng phát triển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1047750" y="2143125"/>
            <a:ext cx="15811500" cy="4972050"/>
            <a:chOff x="0" y="0"/>
            <a:chExt cx="21082000" cy="6629400"/>
          </a:xfrm>
        </p:grpSpPr>
        <p:grpSp>
          <p:nvGrpSpPr>
            <p:cNvPr name="Group 8" id="8"/>
            <p:cNvGrpSpPr/>
            <p:nvPr/>
          </p:nvGrpSpPr>
          <p:grpSpPr>
            <a:xfrm rot="0">
              <a:off x="0" y="0"/>
              <a:ext cx="21082000" cy="6629400"/>
              <a:chOff x="0" y="0"/>
              <a:chExt cx="21082000" cy="6629400"/>
            </a:xfrm>
          </p:grpSpPr>
          <p:sp>
            <p:nvSpPr>
              <p:cNvPr name="Freeform 9" id="9"/>
              <p:cNvSpPr/>
              <p:nvPr/>
            </p:nvSpPr>
            <p:spPr>
              <a:xfrm flipH="false" flipV="false" rot="0">
                <a:off x="0" y="0"/>
                <a:ext cx="21082000" cy="6629400"/>
              </a:xfrm>
              <a:custGeom>
                <a:avLst/>
                <a:gdLst/>
                <a:ahLst/>
                <a:cxnLst/>
                <a:rect r="r" b="b" t="t" l="l"/>
                <a:pathLst>
                  <a:path h="6629400" w="21082000">
                    <a:moveTo>
                      <a:pt x="0" y="0"/>
                    </a:moveTo>
                    <a:lnTo>
                      <a:pt x="21082000" y="0"/>
                    </a:lnTo>
                    <a:lnTo>
                      <a:pt x="21082000" y="6629400"/>
                    </a:lnTo>
                    <a:lnTo>
                      <a:pt x="0" y="662940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sq">
                <a:solidFill>
                  <a:srgbClr val="D4DCE6"/>
                </a:solidFill>
                <a:prstDash val="solid"/>
                <a:miter/>
              </a:ln>
            </p:spPr>
          </p:sp>
          <p:sp>
            <p:nvSpPr>
              <p:cNvPr name="TextBox 10" id="10"/>
              <p:cNvSpPr txBox="true"/>
              <p:nvPr/>
            </p:nvSpPr>
            <p:spPr>
              <a:xfrm>
                <a:off x="0" y="-38100"/>
                <a:ext cx="21082000" cy="6667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sp>
          <p:nvSpPr>
            <p:cNvPr name="AutoShape 11" id="11"/>
            <p:cNvSpPr/>
            <p:nvPr/>
          </p:nvSpPr>
          <p:spPr>
            <a:xfrm>
              <a:off x="10541000" y="0"/>
              <a:ext cx="0" cy="6629400"/>
            </a:xfrm>
            <a:prstGeom prst="line">
              <a:avLst/>
            </a:prstGeom>
            <a:ln cap="flat" w="12700">
              <a:solidFill>
                <a:srgbClr val="D4DCE6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2" id="12"/>
            <p:cNvSpPr/>
            <p:nvPr/>
          </p:nvSpPr>
          <p:spPr>
            <a:xfrm>
              <a:off x="0" y="787400"/>
              <a:ext cx="21082000" cy="0"/>
            </a:xfrm>
            <a:prstGeom prst="line">
              <a:avLst/>
            </a:prstGeom>
            <a:ln cap="flat" w="25400">
              <a:solidFill>
                <a:srgbClr val="2E5C8A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3" id="13"/>
            <p:cNvSpPr/>
            <p:nvPr/>
          </p:nvSpPr>
          <p:spPr>
            <a:xfrm>
              <a:off x="0" y="1955800"/>
              <a:ext cx="21082000" cy="0"/>
            </a:xfrm>
            <a:prstGeom prst="line">
              <a:avLst/>
            </a:prstGeom>
            <a:ln cap="flat" w="12700">
              <a:solidFill>
                <a:srgbClr val="D4DCE6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4" id="14"/>
            <p:cNvSpPr/>
            <p:nvPr/>
          </p:nvSpPr>
          <p:spPr>
            <a:xfrm>
              <a:off x="0" y="3124200"/>
              <a:ext cx="21082000" cy="0"/>
            </a:xfrm>
            <a:prstGeom prst="line">
              <a:avLst/>
            </a:prstGeom>
            <a:ln cap="flat" w="12700">
              <a:solidFill>
                <a:srgbClr val="D4DCE6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5" id="15"/>
            <p:cNvSpPr/>
            <p:nvPr/>
          </p:nvSpPr>
          <p:spPr>
            <a:xfrm>
              <a:off x="0" y="4292600"/>
              <a:ext cx="21082000" cy="0"/>
            </a:xfrm>
            <a:prstGeom prst="line">
              <a:avLst/>
            </a:prstGeom>
            <a:ln cap="flat" w="12700">
              <a:solidFill>
                <a:srgbClr val="D4DCE6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6" id="16"/>
            <p:cNvSpPr/>
            <p:nvPr/>
          </p:nvSpPr>
          <p:spPr>
            <a:xfrm>
              <a:off x="0" y="5461000"/>
              <a:ext cx="21082000" cy="0"/>
            </a:xfrm>
            <a:prstGeom prst="line">
              <a:avLst/>
            </a:prstGeom>
            <a:ln cap="flat" w="12700">
              <a:solidFill>
                <a:srgbClr val="D4DCE6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TextBox 17" id="17"/>
            <p:cNvSpPr txBox="true"/>
            <p:nvPr/>
          </p:nvSpPr>
          <p:spPr>
            <a:xfrm rot="0">
              <a:off x="228600" y="177800"/>
              <a:ext cx="10083800" cy="36322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310"/>
                </a:lnSpc>
              </a:pPr>
              <a:r>
                <a:rPr lang="en-US" sz="1650" b="true">
                  <a:solidFill>
                    <a:srgbClr val="2E5C8A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HẠN CHẾ</a:t>
              </a:r>
            </a:p>
          </p:txBody>
        </p:sp>
        <p:sp>
          <p:nvSpPr>
            <p:cNvPr name="TextBox 18" id="18"/>
            <p:cNvSpPr txBox="true"/>
            <p:nvPr/>
          </p:nvSpPr>
          <p:spPr>
            <a:xfrm rot="0">
              <a:off x="10769600" y="177800"/>
              <a:ext cx="10083800" cy="36322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310"/>
                </a:lnSpc>
              </a:pPr>
              <a:r>
                <a:rPr lang="en-US" sz="1650" b="true">
                  <a:solidFill>
                    <a:srgbClr val="2E5C8A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HƯỚNG XỬ LÝ</a:t>
              </a:r>
            </a:p>
          </p:txBody>
        </p:sp>
        <p:sp>
          <p:nvSpPr>
            <p:cNvPr name="TextBox 19" id="19"/>
            <p:cNvSpPr txBox="true"/>
            <p:nvPr/>
          </p:nvSpPr>
          <p:spPr>
            <a:xfrm rot="0">
              <a:off x="228600" y="1028700"/>
              <a:ext cx="100838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HTTP trong lab</a:t>
              </a:r>
            </a:p>
          </p:txBody>
        </p:sp>
        <p:sp>
          <p:nvSpPr>
            <p:cNvPr name="TextBox 20" id="20"/>
            <p:cNvSpPr txBox="true"/>
            <p:nvPr/>
          </p:nvSpPr>
          <p:spPr>
            <a:xfrm rot="0">
              <a:off x="10769600" y="1028700"/>
              <a:ext cx="100838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HTTPS + HSTS + cookie secure</a:t>
              </a:r>
            </a:p>
          </p:txBody>
        </p:sp>
        <p:sp>
          <p:nvSpPr>
            <p:cNvPr name="TextBox 21" id="21"/>
            <p:cNvSpPr txBox="true"/>
            <p:nvPr/>
          </p:nvSpPr>
          <p:spPr>
            <a:xfrm rot="0">
              <a:off x="228600" y="2197100"/>
              <a:ext cx="100838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TOTP không chống phishing thời gian thực (AiTM)</a:t>
              </a:r>
            </a:p>
          </p:txBody>
        </p:sp>
        <p:sp>
          <p:nvSpPr>
            <p:cNvPr name="TextBox 22" id="22"/>
            <p:cNvSpPr txBox="true"/>
            <p:nvPr/>
          </p:nvSpPr>
          <p:spPr>
            <a:xfrm rot="0">
              <a:off x="10769600" y="2197100"/>
              <a:ext cx="100838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Passkey / WebAuthn — gắn với origin</a:t>
              </a:r>
            </a:p>
          </p:txBody>
        </p:sp>
        <p:sp>
          <p:nvSpPr>
            <p:cNvPr name="TextBox 23" id="23"/>
            <p:cNvSpPr txBox="true"/>
            <p:nvPr/>
          </p:nvSpPr>
          <p:spPr>
            <a:xfrm rot="0">
              <a:off x="228600" y="3365500"/>
              <a:ext cx="100838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Superuser DB vẫn tính lại được hash-chain</a:t>
              </a:r>
            </a:p>
          </p:txBody>
        </p:sp>
        <p:sp>
          <p:nvSpPr>
            <p:cNvPr name="TextBox 24" id="24"/>
            <p:cNvSpPr txBox="true"/>
            <p:nvPr/>
          </p:nvSpPr>
          <p:spPr>
            <a:xfrm rot="0">
              <a:off x="10769600" y="3365500"/>
              <a:ext cx="100838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SIEM + WORM storage; tạm thời anchor lastHash ra ngoài</a:t>
              </a:r>
            </a:p>
          </p:txBody>
        </p:sp>
        <p:sp>
          <p:nvSpPr>
            <p:cNvPr name="TextBox 25" id="25"/>
            <p:cNvSpPr txBox="true"/>
            <p:nvPr/>
          </p:nvSpPr>
          <p:spPr>
            <a:xfrm rot="0">
              <a:off x="228600" y="4533900"/>
              <a:ext cx="100838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mfa_secret lưu dạng rõ</a:t>
              </a:r>
            </a:p>
          </p:txBody>
        </p:sp>
        <p:sp>
          <p:nvSpPr>
            <p:cNvPr name="TextBox 26" id="26"/>
            <p:cNvSpPr txBox="true"/>
            <p:nvPr/>
          </p:nvSpPr>
          <p:spPr>
            <a:xfrm rot="0">
              <a:off x="10769600" y="4533900"/>
              <a:ext cx="100838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AES-256-GCM với MFA_ENC_KEY</a:t>
              </a:r>
            </a:p>
          </p:txBody>
        </p:sp>
        <p:sp>
          <p:nvSpPr>
            <p:cNvPr name="TextBox 27" id="27"/>
            <p:cNvSpPr txBox="true"/>
            <p:nvPr/>
          </p:nvSpPr>
          <p:spPr>
            <a:xfrm rot="0">
              <a:off x="228600" y="5702300"/>
              <a:ext cx="100838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RPO 24 giờ</a:t>
              </a:r>
            </a:p>
          </p:txBody>
        </p:sp>
        <p:sp>
          <p:nvSpPr>
            <p:cNvPr name="TextBox 28" id="28"/>
            <p:cNvSpPr txBox="true"/>
            <p:nvPr/>
          </p:nvSpPr>
          <p:spPr>
            <a:xfrm rot="0">
              <a:off x="10769600" y="5702300"/>
              <a:ext cx="100838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PITR / WAL archiving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>
  <p:cSld>
    <p:bg>
      <p:bgPr>
        <a:solidFill>
          <a:srgbClr val="ED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47750" y="819150"/>
            <a:ext cx="876300" cy="47625"/>
            <a:chOff x="0" y="0"/>
            <a:chExt cx="1168400" cy="635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68400" cy="63500"/>
            </a:xfrm>
            <a:custGeom>
              <a:avLst/>
              <a:gdLst/>
              <a:ahLst/>
              <a:cxnLst/>
              <a:rect r="r" b="b" t="t" l="l"/>
              <a:pathLst>
                <a:path h="63500" w="1168400">
                  <a:moveTo>
                    <a:pt x="0" y="0"/>
                  </a:moveTo>
                  <a:lnTo>
                    <a:pt x="1168400" y="0"/>
                  </a:lnTo>
                  <a:lnTo>
                    <a:pt x="1168400" y="63500"/>
                  </a:lnTo>
                  <a:lnTo>
                    <a:pt x="0" y="63500"/>
                  </a:lnTo>
                  <a:close/>
                </a:path>
              </a:pathLst>
            </a:custGeom>
            <a:solidFill>
              <a:srgbClr val="2E5C8A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168400" cy="10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6764000" y="666750"/>
            <a:ext cx="476250" cy="222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350">
                <a:solidFill>
                  <a:srgbClr val="8A98A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12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47750" y="1209675"/>
            <a:ext cx="9525000" cy="6637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84"/>
              </a:lnSpc>
            </a:pPr>
            <a:r>
              <a:rPr lang="en-US" sz="4800" b="true">
                <a:solidFill>
                  <a:srgbClr val="1B2A3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Bốn kết luận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47750" y="2676525"/>
            <a:ext cx="857250" cy="3562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>
                <a:solidFill>
                  <a:srgbClr val="2E5C8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01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333625" y="2581275"/>
            <a:ext cx="15240000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149"/>
              </a:lnSpc>
              <a:spcBef>
                <a:spcPct val="0"/>
              </a:spcBef>
            </a:pPr>
            <a:r>
              <a:rPr lang="en-US" b="true" sz="2250" strike="noStrike" u="none">
                <a:solidFill>
                  <a:srgbClr val="1B2A3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Mật khẩu bị đánh cắp là không đủ — và để lại cảnh báo có ý nghĩa điều tra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047750" y="4057650"/>
            <a:ext cx="857250" cy="3562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>
                <a:solidFill>
                  <a:srgbClr val="2E5C8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02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2333625" y="3962400"/>
            <a:ext cx="15240000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149"/>
              </a:lnSpc>
              <a:spcBef>
                <a:spcPct val="0"/>
              </a:spcBef>
            </a:pPr>
            <a:r>
              <a:rPr lang="en-US" b="true" sz="2250" strike="noStrike" u="none">
                <a:solidFill>
                  <a:srgbClr val="1B2A3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Cookie phiên bị đánh cắp là không đủ — fingerprint phát hiện, step-up OTP chặn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047750" y="5438775"/>
            <a:ext cx="857250" cy="3562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>
                <a:solidFill>
                  <a:srgbClr val="2E5C8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03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2333625" y="5343525"/>
            <a:ext cx="15240000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149"/>
              </a:lnSpc>
              <a:spcBef>
                <a:spcPct val="0"/>
              </a:spcBef>
            </a:pPr>
            <a:r>
              <a:rPr lang="en-US" b="true" sz="2250" strike="noStrike" u="none">
                <a:solidFill>
                  <a:srgbClr val="1B2A3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Hệ thống không tin cả DB của chính mình — hash-chain bắt được cả insider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047750" y="6819900"/>
            <a:ext cx="857250" cy="3562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>
                <a:solidFill>
                  <a:srgbClr val="2E5C8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04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2333625" y="6724650"/>
            <a:ext cx="15240000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149"/>
              </a:lnSpc>
              <a:spcBef>
                <a:spcPct val="0"/>
              </a:spcBef>
            </a:pPr>
            <a:r>
              <a:rPr lang="en-US" b="true" sz="2250" strike="noStrike" u="none">
                <a:solidFill>
                  <a:srgbClr val="1B2A3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Defense-in-Depth là thật: bỏ qua WAF, payload SQLi vẫn bị chặn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047750" y="9153525"/>
            <a:ext cx="7620000" cy="2819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310"/>
              </a:lnSpc>
              <a:spcBef>
                <a:spcPct val="0"/>
              </a:spcBef>
            </a:pPr>
            <a:r>
              <a:rPr lang="en-US" sz="1650" strike="noStrike" u="none">
                <a:solidFill>
                  <a:srgbClr val="3C4A5C"/>
                </a:solidFill>
                <a:latin typeface="IBM Plex Sans"/>
                <a:ea typeface="IBM Plex Sans"/>
                <a:cs typeface="IBM Plex Sans"/>
                <a:sym typeface="IBM Plex Sans"/>
              </a:rPr>
              <a:t>Xin cảm ơn — mời hỏi đáp.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DAHZY0ytr6Y</dc:identifier>
  <dcterms:modified xsi:type="dcterms:W3CDTF">2011-08-01T06:04:30Z</dcterms:modified>
  <cp:revision>1</cp:revision>
  <dc:title>SecureGrade chống giả mạo</dc:title>
</cp:coreProperties>
</file>