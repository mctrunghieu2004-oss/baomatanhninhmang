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JetBrains Mono" charset="1" panose="02010509020102050004"/>
      <p:regular r:id="rId21"/>
    </p:embeddedFont>
    <p:embeddedFont>
      <p:font typeface="IBM Plex Sans Bold" charset="1" panose="020B0803050203000203"/>
      <p:regular r:id="rId22"/>
    </p:embeddedFont>
    <p:embeddedFont>
      <p:font typeface="IBM Plex Sans" charset="1" panose="020B0503050203000203"/>
      <p:regular r:id="rId23"/>
    </p:embeddedFont>
    <p:embeddedFont>
      <p:font typeface="JetBrains Mono Bold" charset="1" panose="02010809030102050004"/>
      <p:regular r:id="rId26"/>
    </p:embeddedFont>
    <p:embeddedFont>
      <p:font typeface="Arimo Bold" charset="1" panose="020B0704020202020204"/>
      <p:regular r:id="rId29"/>
    </p:embeddedFont>
    <p:embeddedFont>
      <p:font typeface="Arimo" charset="1" panose="020B06040202020202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fonts/font26.fntdata" Type="http://schemas.openxmlformats.org/officeDocument/2006/relationships/font"/><Relationship Id="rId27" Target="notesSlides/notesSlide4.xml" Type="http://schemas.openxmlformats.org/officeDocument/2006/relationships/notesSlide"/><Relationship Id="rId28" Target="notesSlides/notesSlide5.xml" Type="http://schemas.openxmlformats.org/officeDocument/2006/relationships/notes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fonts/font34.fntdata" Type="http://schemas.openxmlformats.org/officeDocument/2006/relationships/font"/><Relationship Id="rId35" Target="notesSlides/notesSlide10.xml" Type="http://schemas.openxmlformats.org/officeDocument/2006/relationships/notesSlide"/><Relationship Id="rId36" Target="notesSlides/notesSlide11.xml" Type="http://schemas.openxmlformats.org/officeDocument/2006/relationships/notesSlide"/><Relationship Id="rId37" Target="notesSlides/notesSlide12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 GIÂY. Tên đề tài + câu chốt: "Câu hỏi của đồ án này là — hệ thống dựa vào đâu để tin một thông tin."</a:t>
            </a:r>
          </a:p>
          <a:p>
            <a:r>
              <a:rPr lang="en-US"/>
              <a:t/>
            </a:r>
          </a:p>
          <a:p>
            <a:r>
              <a:rPr lang="en-US"/>
              <a:t>Đừng đọc tên từng thành viên — thầy đã có trong báo cáo.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45 GIÂY. Điểm là tài sản toàn vẹn → cổng vào duy nhất là tài khoản GV → dừng ở câu hỏi lớn.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3 đã ẩn): "tác nhân nguy hiểm nhất là insider có quyền DB — phần lớn đồ án bỏ qua."</a:t>
            </a:r>
          </a:p>
          <a:p>
            <a:r>
              <a:rPr lang="en-US"/>
              <a:t/>
            </a:r>
          </a:p>
          <a:p>
            <a:r>
              <a:rPr lang="en-US"/>
              <a:t>Đây là cái móc của cả bài: đừng vội nói về kỹ thuật.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"tài sản nào quan trọng nhất". Nội dung đã gộp một câu vào slide 2.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3 zone · chỉ WAF có port.</a:t>
            </a:r>
          </a:p>
          <a:p>
            <a:r>
              <a:rPr lang="en-US"/>
              <a:t/>
            </a:r>
          </a:p>
          <a:p>
            <a:r>
              <a:rPr lang="en-US"/>
              <a:t>NHẤN D4: app không gọi được ra Internet, nên có RCE trong app cũng không exfiltrate được dữ liệu.</a:t>
            </a:r>
          </a:p>
          <a:p>
            <a:r>
              <a:rPr lang="en-US"/>
              <a:t/>
            </a:r>
          </a:p>
          <a:p>
            <a:r>
              <a:rPr lang="en-US"/>
              <a:t>Đừng đọc hết 5 luồng bị chặn.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70 GIÂY — slide dài nhất, bấm giờ riêng khi tổng duyệt.</a:t>
            </a:r>
          </a:p>
          <a:p>
            <a:r>
              <a:rPr lang="en-US"/>
              <a:t/>
            </a:r>
          </a:p>
          <a:p>
            <a:r>
              <a:rPr lang="en-US"/>
              <a:t>Đọc 5 dòng bảng, dừng lại ở dòng cuối (không tin cả DB của mình).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6 đã ẩn): "cụ thể hoá thành 12 lớp kiểm chứng, một request sửa điểm phải qua hết."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giải thích từng dòng.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"12 lớp là những lớp nào". Đã nói bằng một câu ở slide 5.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40 GIÂY. Lướt nhanh 4 dòng đầu.</a:t>
            </a:r>
          </a:p>
          <a:p>
            <a:r>
              <a:rPr lang="en-US"/>
              <a:t/>
            </a:r>
          </a:p>
          <a:p>
            <a:r>
              <a:rPr lang="en-US"/>
              <a:t>DỮNG Ở R08: insider sửa DB, audit_log append-only, hash-chain, TC22–TC24. Đây là dòng phân biệt đồ án này với đồ án khác.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 GIÂY. "Chuyển sang màn hình live."</a:t>
            </a:r>
          </a:p>
          <a:p>
            <a:r>
              <a:rPr lang="en-US"/>
              <a:t/>
            </a:r>
          </a:p>
          <a:p>
            <a:r>
              <a:rPr lang="en-US"/>
              <a:t>DEMO 4 PHÚT theo docs/KICH_BAN_7P.md:</a:t>
            </a:r>
          </a:p>
          <a:p>
            <a:r>
              <a:rPr lang="en-US"/>
              <a:t>  D1 0:00–0:25  phân vùng (2 lệnh)</a:t>
            </a:r>
          </a:p>
          <a:p>
            <a:r>
              <a:rPr lang="en-US"/>
              <a:t>  D2 0:25–1:10  sửa điểm hợp lệ + step-up OTP</a:t>
            </a:r>
          </a:p>
          <a:p>
            <a:r>
              <a:rPr lang="en-US"/>
              <a:t>  D3 1:10–2:20  KB2 đánh cắp cookie</a:t>
            </a:r>
          </a:p>
          <a:p>
            <a:r>
              <a:rPr lang="en-US"/>
              <a:t>  D4 2:20–3:45  KB6 insider sửa DB</a:t>
            </a:r>
          </a:p>
          <a:p>
            <a:r>
              <a:rPr lang="en-US"/>
              <a:t/>
            </a:r>
          </a:p>
          <a:p>
            <a:r>
              <a:rPr lang="en-US"/>
              <a:t>KB1 / KB3 / KB4 / KB5 để dành cho hỏi đáp.</a:t>
            </a:r>
          </a:p>
          <a:p>
            <a:r>
              <a:rPr lang="en-US"/>
              <a:t>NHỚT TRƯỚC KHI BẤM GIỜ: gv01 và admin đã đăng nhập sẵn, đã chạy docker compose restart app, lệnh dán sẵn trong file text.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25/25 PASS · 6 luồng bình thường + 19 test tấn công · phủ KB1–KB6.</a:t>
            </a:r>
          </a:p>
          <a:p>
            <a:r>
              <a:rPr lang="en-US"/>
              <a:t/>
            </a:r>
          </a:p>
          <a:p>
            <a:r>
              <a:rPr lang="en-US"/>
              <a:t>Đừng đọc từng dòng trên màn hình — để thầy tự đọc.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SLIDE GHI ĐIỂM.</a:t>
            </a:r>
          </a:p>
          <a:p>
            <a:r>
              <a:rPr lang="en-US"/>
              <a:t/>
            </a:r>
          </a:p>
          <a:p>
            <a:r>
              <a:rPr lang="en-US"/>
              <a:t>Chỉ đọc ba con số:</a:t>
            </a:r>
          </a:p>
          <a:p>
            <a:r>
              <a:rPr lang="en-US"/>
              <a:t>  1 sửa / 30 giây</a:t>
            </a:r>
          </a:p>
          <a:p>
            <a:r>
              <a:rPr lang="en-US"/>
              <a:t>  PL1 chặn oan 0/15</a:t>
            </a:r>
          </a:p>
          <a:p>
            <a:r>
              <a:rPr lang="en-US"/>
              <a:t>  RTO 5–6 giây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kể quá trình đo, chỉ đọc kết quả.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Đọc nhanh đúng 2 dòng:</a:t>
            </a:r>
          </a:p>
          <a:p>
            <a:r>
              <a:rPr lang="en-US"/>
              <a:t>  TOTP không chống AiTM → Passkey/WebAuthn</a:t>
            </a:r>
          </a:p>
          <a:p>
            <a:r>
              <a:rPr lang="en-US"/>
              <a:t>  Superuser DB vẫn tính lại được hash-chain → SIEM + WORM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xin lỗi dài dòng.</a:t>
            </a:r>
          </a:p>
          <a:p>
            <a:r>
              <a:rPr lang="en-US"/>
              <a:t>Nếu phần nói đã quá 6:30 thì cắt slide này còn 15 giây.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30 GIÂY. Bốn câu, đọc chậm, dừng lại sau câu 3. Rồi mời hỏi đáp.</a:t>
            </a:r>
          </a:p>
          <a:p>
            <a:r>
              <a:rPr lang="en-US"/>
              <a:t/>
            </a:r>
          </a:p>
          <a:p>
            <a:r>
              <a:rPr lang="en-US"/>
              <a:t>TỔNG PHẦN NÓI: 5 phút 55 — dư 65 giây so với khung 7 phút.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097000" y="1619250"/>
            <a:ext cx="4191000" cy="8667750"/>
            <a:chOff x="0" y="0"/>
            <a:chExt cx="5588000" cy="1155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88000" cy="11557000"/>
            </a:xfrm>
            <a:custGeom>
              <a:avLst/>
              <a:gdLst/>
              <a:ahLst/>
              <a:cxnLst/>
              <a:rect r="r" b="b" t="t" l="l"/>
              <a:pathLst>
                <a:path h="11557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1557000"/>
                  </a:lnTo>
                  <a:lnTo>
                    <a:pt x="0" y="11557000"/>
                  </a:lnTo>
                  <a:close/>
                </a:path>
              </a:pathLst>
            </a:custGeom>
            <a:solidFill>
              <a:srgbClr val="2E5C8A">
                <a:alpha val="23922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588000" cy="1159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47750" y="2057400"/>
            <a:ext cx="11430000" cy="1642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39"/>
              </a:lnSpc>
            </a:pPr>
            <a:r>
              <a:rPr lang="en-US" sz="96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SecureGrade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790950"/>
            <a:ext cx="9334500" cy="115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Hệ thống nhập điểm</a:t>
            </a:r>
          </a:p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chống giả mạo đầu vào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6229350"/>
            <a:ext cx="10953750" cy="2091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Đồ án cuối kỳ — Bảo mật mạng máy tính và hệ thống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Hướng 1: Thiết kế hệ thống an toàn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Nhóm: ____________________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Thành viên: ____________________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GVHD: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85900"/>
            <a:ext cx="9906000" cy="149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Điểm số là tài sản</a:t>
            </a:r>
          </a:p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cần toàn vẹn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76650"/>
            <a:ext cx="14287500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AAB6C6"/>
                </a:solidFill>
                <a:latin typeface="IBM Plex Sans"/>
                <a:ea typeface="IBM Plex Sans"/>
                <a:cs typeface="IBM Plex Sans"/>
                <a:sym typeface="IBM Plex Sans"/>
              </a:rPr>
              <a:t>Điểm quyết định học bổng, cảnh báo học vụ, tốt nghiệp. Cổng vào duy nhất để sửa điểm là tài khoản giảng viên.</a:t>
            </a: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AAB6C6"/>
                </a:solidFill>
                <a:latin typeface="IBM Plex Sans"/>
                <a:ea typeface="IBM Plex Sans"/>
                <a:cs typeface="IBM Plex Sans"/>
                <a:sym typeface="IBM Plex Sans"/>
              </a:rPr>
              <a:t>Tình huống thật: giảng viên bị phishing / ClickFix → kẻ tấn công có mật khẩu, hoặc có luôn cookie phiên đang đăng nhập.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47750" y="5619750"/>
            <a:ext cx="12001500" cy="28575"/>
            <a:chOff x="0" y="0"/>
            <a:chExt cx="16002000" cy="38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02000" cy="38100"/>
            </a:xfrm>
            <a:custGeom>
              <a:avLst/>
              <a:gdLst/>
              <a:ahLst/>
              <a:cxnLst/>
              <a:rect r="r" b="b" t="t" l="l"/>
              <a:pathLst>
                <a:path h="38100" w="16002000">
                  <a:moveTo>
                    <a:pt x="0" y="0"/>
                  </a:moveTo>
                  <a:lnTo>
                    <a:pt x="16002000" y="0"/>
                  </a:lnTo>
                  <a:lnTo>
                    <a:pt x="1600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600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6191250"/>
            <a:ext cx="15049500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02"/>
              </a:lnSpc>
              <a:spcBef>
                <a:spcPct val="0"/>
              </a:spcBef>
            </a:pPr>
            <a:r>
              <a:rPr lang="en-US" b="true" sz="3900" strike="noStrike" u="non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đúng có nghĩa là đúng người không?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52550"/>
            <a:ext cx="11430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Bảo vệ cái gì, chống ai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381250"/>
            <a:ext cx="12573000" cy="4857750"/>
            <a:chOff x="0" y="0"/>
            <a:chExt cx="16764000" cy="6477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6764000" cy="6477000"/>
              <a:chOff x="0" y="0"/>
              <a:chExt cx="16764000" cy="6477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6764000" cy="6477000"/>
              </a:xfrm>
              <a:custGeom>
                <a:avLst/>
                <a:gdLst/>
                <a:ahLst/>
                <a:cxnLst/>
                <a:rect r="r" b="b" t="t" l="l"/>
                <a:pathLst>
                  <a:path h="6477000" w="16764000">
                    <a:moveTo>
                      <a:pt x="0" y="0"/>
                    </a:moveTo>
                    <a:lnTo>
                      <a:pt x="16764000" y="0"/>
                    </a:lnTo>
                    <a:lnTo>
                      <a:pt x="16764000" y="6477000"/>
                    </a:lnTo>
                    <a:lnTo>
                      <a:pt x="0" y="64770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16764000" cy="651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1734800" y="0"/>
              <a:ext cx="0" cy="64770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16764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2209800"/>
              <a:ext cx="16764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632200"/>
              <a:ext cx="16764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5054600"/>
              <a:ext cx="16764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112776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TÀI SẢN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1963400" y="177800"/>
              <a:ext cx="45720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ƯU TIÊN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28600" y="10191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A1 — Bảng điểm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1963400" y="10191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228600" y="24415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A2 — Tài khoản GV / Admin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963400" y="24415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38639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A4 — Secret: JWT, TOTP seed, mật khẩu DB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1963400" y="38639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52863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A5 — Audit log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1963400" y="52863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47750" y="8486775"/>
            <a:ext cx="160020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AAB6C6"/>
                </a:solidFill>
                <a:latin typeface="IBM Plex Sans"/>
                <a:ea typeface="IBM Plex Sans"/>
                <a:cs typeface="IBM Plex Sans"/>
                <a:sym typeface="IBM Plex Sans"/>
              </a:rPr>
              <a:t>Tác nhân đe doạ   ·   sinh viên có tài khoản hợp lệ   ·   kẻ phishing bên ngoài   ·   infostealer trên máy GV   ·   bot dò mật khẩu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7750" y="8915400"/>
            <a:ext cx="10477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C0392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·  insider có quyền DB — tác nhân mà hầu hết đồ án bỏ qua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95425"/>
            <a:ext cx="4476750" cy="1320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Kiến trúc</a:t>
            </a:r>
          </a:p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phân vùng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38550"/>
            <a:ext cx="4000500" cy="2573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 zone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 luồng được phép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luồng bị chặn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Chỉ WAF publish cổng 8080.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và db không có port,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không có egress Internet.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191250" y="1381125"/>
            <a:ext cx="11049000" cy="7239000"/>
            <a:chOff x="0" y="0"/>
            <a:chExt cx="14732000" cy="965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732000" cy="9652000"/>
            </a:xfrm>
            <a:custGeom>
              <a:avLst/>
              <a:gdLst/>
              <a:ahLst/>
              <a:cxnLst/>
              <a:rect r="r" b="b" t="t" l="l"/>
              <a:pathLst>
                <a:path h="9652000" w="14732000">
                  <a:moveTo>
                    <a:pt x="0" y="0"/>
                  </a:moveTo>
                  <a:lnTo>
                    <a:pt x="14732000" y="0"/>
                  </a:lnTo>
                  <a:lnTo>
                    <a:pt x="14732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16243A"/>
            </a:solidFill>
            <a:ln w="9525" cap="sq">
              <a:solidFill>
                <a:srgbClr val="34465D"/>
              </a:solidFill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732000" cy="969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572250" y="8867775"/>
            <a:ext cx="99060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4"/>
              </a:lnSpc>
              <a:spcBef>
                <a:spcPct val="0"/>
              </a:spcBef>
            </a:pPr>
            <a:r>
              <a:rPr lang="en-US" sz="1575" strike="noStrike" u="none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Đã chứng minh bằng lệnh:  D1 refused  ·  D2 refused  ·  D3 không resolve được db  ·  D4 app không gọi được ra Internet</a:t>
            </a:r>
          </a:p>
        </p:txBody>
      </p:sp>
      <p:sp>
        <p:nvSpPr>
          <p:cNvPr name="Freeform 12" id="12" descr="Sơ đồ kiến trúc phân vùng ba zone của SecureGrade"/>
          <p:cNvSpPr/>
          <p:nvPr/>
        </p:nvSpPr>
        <p:spPr>
          <a:xfrm flipH="false" flipV="false" rot="0">
            <a:off x="6905625" y="1381125"/>
            <a:ext cx="9620250" cy="7239000"/>
          </a:xfrm>
          <a:custGeom>
            <a:avLst/>
            <a:gdLst/>
            <a:ahLst/>
            <a:cxnLst/>
            <a:rect r="r" b="b" t="t" l="l"/>
            <a:pathLst>
              <a:path h="7239000" w="9620250">
                <a:moveTo>
                  <a:pt x="0" y="0"/>
                </a:moveTo>
                <a:lnTo>
                  <a:pt x="9620250" y="0"/>
                </a:lnTo>
                <a:lnTo>
                  <a:pt x="9620250" y="7239000"/>
                </a:lnTo>
                <a:lnTo>
                  <a:pt x="0" y="7239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1" t="0" r="-81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Không tin mặc định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286000"/>
            <a:ext cx="15240000" cy="4972050"/>
            <a:chOff x="0" y="0"/>
            <a:chExt cx="2032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320000" cy="6629400"/>
              <a:chOff x="0" y="0"/>
              <a:chExt cx="2032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32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32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128000" y="0"/>
              <a:ext cx="0" cy="66294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032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032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032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032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032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7" id="17"/>
            <p:cNvGrpSpPr/>
            <p:nvPr/>
          </p:nvGrpSpPr>
          <p:grpSpPr>
            <a:xfrm rot="0">
              <a:off x="0" y="5461000"/>
              <a:ext cx="20320000" cy="1168400"/>
              <a:chOff x="0" y="0"/>
              <a:chExt cx="20320000" cy="11684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032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17647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2032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228600" y="177800"/>
              <a:ext cx="7670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THÔNG TIN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8356600" y="177800"/>
              <a:ext cx="11734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KIỂM CHỨNG BẰNG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10287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Mật khẩu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356600" y="10191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bcrypt + OTP từ thiết bị khác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21971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Claim role trong JWT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8356600" y="21875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Không dùng — đọc role từ bảng users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228600" y="33655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Cookie phiên hợp lệ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8356600" y="33559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Fingerprint + step-up OTP khi sửa điểm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45339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enrollmentId từ client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8356600" y="45243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Truy vấn ownership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28600" y="57023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Dữ liệu trong DB của chính mình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8356600" y="56927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 + đối chiếu điểm với log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7750" y="7705725"/>
            <a:ext cx="15240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2E5C8A"/>
                </a:solidFill>
                <a:latin typeface="Arimo Bold"/>
                <a:ea typeface="Arimo Bold"/>
                <a:cs typeface="Arimo Bold"/>
                <a:sym typeface="Arimo Bold"/>
              </a:rPr>
              <a:t>Hệ thống dựa vào đâu để tin một thông tin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238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Pipeline 12 lớp kiểm chứng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478125" cy="2362200"/>
            <a:chOff x="0" y="0"/>
            <a:chExt cx="20637500" cy="3149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984500" cy="990600"/>
              <a:chOff x="0" y="0"/>
              <a:chExt cx="2984500" cy="990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1 · WAF</a:t>
                </a: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30353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0">
              <a:off x="3530600" y="0"/>
              <a:ext cx="2984500" cy="990600"/>
              <a:chOff x="0" y="0"/>
              <a:chExt cx="2984500" cy="9906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2 · Rate limit</a:t>
                </a:r>
              </a:p>
            </p:txBody>
          </p:sp>
        </p:grpSp>
        <p:sp>
          <p:nvSpPr>
            <p:cNvPr name="AutoShape 15" id="15"/>
            <p:cNvSpPr/>
            <p:nvPr/>
          </p:nvSpPr>
          <p:spPr>
            <a:xfrm>
              <a:off x="65659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6" id="16"/>
            <p:cNvGrpSpPr/>
            <p:nvPr/>
          </p:nvGrpSpPr>
          <p:grpSpPr>
            <a:xfrm rot="0">
              <a:off x="7061200" y="0"/>
              <a:ext cx="2984500" cy="990600"/>
              <a:chOff x="0" y="0"/>
              <a:chExt cx="2984500" cy="9906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3 · Chữ ký JWT</a:t>
                </a:r>
              </a:p>
            </p:txBody>
          </p:sp>
        </p:grpSp>
        <p:sp>
          <p:nvSpPr>
            <p:cNvPr name="AutoShape 19" id="19"/>
            <p:cNvSpPr/>
            <p:nvPr/>
          </p:nvSpPr>
          <p:spPr>
            <a:xfrm>
              <a:off x="100965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10591800" y="0"/>
              <a:ext cx="2984500" cy="990600"/>
              <a:chOff x="0" y="0"/>
              <a:chExt cx="2984500" cy="9906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4 · Session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trong DB</a:t>
                </a:r>
              </a:p>
            </p:txBody>
          </p:sp>
        </p:grpSp>
        <p:sp>
          <p:nvSpPr>
            <p:cNvPr name="AutoShape 23" id="23"/>
            <p:cNvSpPr/>
            <p:nvPr/>
          </p:nvSpPr>
          <p:spPr>
            <a:xfrm>
              <a:off x="136271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4" id="24"/>
            <p:cNvGrpSpPr/>
            <p:nvPr/>
          </p:nvGrpSpPr>
          <p:grpSpPr>
            <a:xfrm rot="0">
              <a:off x="14122400" y="0"/>
              <a:ext cx="2984500" cy="990600"/>
              <a:chOff x="0" y="0"/>
              <a:chExt cx="2984500" cy="9906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5 · Fingerprint</a:t>
                </a:r>
              </a:p>
            </p:txBody>
          </p:sp>
        </p:grpSp>
        <p:sp>
          <p:nvSpPr>
            <p:cNvPr name="AutoShape 27" id="27"/>
            <p:cNvSpPr/>
            <p:nvPr/>
          </p:nvSpPr>
          <p:spPr>
            <a:xfrm>
              <a:off x="171577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8" id="28"/>
            <p:cNvGrpSpPr/>
            <p:nvPr/>
          </p:nvGrpSpPr>
          <p:grpSpPr>
            <a:xfrm rot="0">
              <a:off x="17653000" y="0"/>
              <a:ext cx="2984500" cy="990600"/>
              <a:chOff x="0" y="0"/>
              <a:chExt cx="2984500" cy="9906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6 · MFA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0" y="2159000"/>
              <a:ext cx="2984500" cy="990600"/>
              <a:chOff x="0" y="0"/>
              <a:chExt cx="2984500" cy="9906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7 · RBAC</a:t>
                </a:r>
              </a:p>
            </p:txBody>
          </p:sp>
        </p:grpSp>
        <p:sp>
          <p:nvSpPr>
            <p:cNvPr name="AutoShape 34" id="34"/>
            <p:cNvSpPr/>
            <p:nvPr/>
          </p:nvSpPr>
          <p:spPr>
            <a:xfrm>
              <a:off x="30353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5" id="35"/>
            <p:cNvGrpSpPr/>
            <p:nvPr/>
          </p:nvGrpSpPr>
          <p:grpSpPr>
            <a:xfrm rot="0">
              <a:off x="3530600" y="2159000"/>
              <a:ext cx="2984500" cy="990600"/>
              <a:chOff x="0" y="0"/>
              <a:chExt cx="2984500" cy="9906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8 · Step-up OTP</a:t>
                </a:r>
              </a:p>
            </p:txBody>
          </p:sp>
        </p:grpSp>
        <p:sp>
          <p:nvSpPr>
            <p:cNvPr name="AutoShape 38" id="38"/>
            <p:cNvSpPr/>
            <p:nvPr/>
          </p:nvSpPr>
          <p:spPr>
            <a:xfrm>
              <a:off x="65659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9" id="39"/>
            <p:cNvGrpSpPr/>
            <p:nvPr/>
          </p:nvGrpSpPr>
          <p:grpSpPr>
            <a:xfrm rot="0">
              <a:off x="7061200" y="2159000"/>
              <a:ext cx="2984500" cy="990600"/>
              <a:chOff x="0" y="0"/>
              <a:chExt cx="2984500" cy="9906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9 · Validation</a:t>
                </a:r>
              </a:p>
            </p:txBody>
          </p:sp>
        </p:grpSp>
        <p:sp>
          <p:nvSpPr>
            <p:cNvPr name="AutoShape 42" id="42"/>
            <p:cNvSpPr/>
            <p:nvPr/>
          </p:nvSpPr>
          <p:spPr>
            <a:xfrm>
              <a:off x="100965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3" id="43"/>
            <p:cNvGrpSpPr/>
            <p:nvPr/>
          </p:nvGrpSpPr>
          <p:grpSpPr>
            <a:xfrm rot="0">
              <a:off x="10591800" y="2159000"/>
              <a:ext cx="2984500" cy="990600"/>
              <a:chOff x="0" y="0"/>
              <a:chExt cx="2984500" cy="9906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10 · Ownership</a:t>
                </a:r>
              </a:p>
            </p:txBody>
          </p:sp>
        </p:grpSp>
        <p:sp>
          <p:nvSpPr>
            <p:cNvPr name="AutoShape 46" id="46"/>
            <p:cNvSpPr/>
            <p:nvPr/>
          </p:nvSpPr>
          <p:spPr>
            <a:xfrm>
              <a:off x="136271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7" id="47"/>
            <p:cNvGrpSpPr/>
            <p:nvPr/>
          </p:nvGrpSpPr>
          <p:grpSpPr>
            <a:xfrm rot="0">
              <a:off x="14122400" y="2159000"/>
              <a:ext cx="2984500" cy="990600"/>
              <a:chOff x="0" y="0"/>
              <a:chExt cx="2984500" cy="9906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· Parameterized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F4F7F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query</a:t>
                </a:r>
              </a:p>
            </p:txBody>
          </p:sp>
        </p:grpSp>
        <p:sp>
          <p:nvSpPr>
            <p:cNvPr name="AutoShape 50" id="50"/>
            <p:cNvSpPr/>
            <p:nvPr/>
          </p:nvSpPr>
          <p:spPr>
            <a:xfrm>
              <a:off x="171577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1" id="51"/>
            <p:cNvGrpSpPr/>
            <p:nvPr/>
          </p:nvGrpSpPr>
          <p:grpSpPr>
            <a:xfrm rot="0">
              <a:off x="17653000" y="2159000"/>
              <a:ext cx="2984500" cy="990600"/>
              <a:chOff x="0" y="0"/>
              <a:chExt cx="2984500" cy="9906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12 · Audit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hash-chain</a:t>
                </a: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1047750" y="5953125"/>
            <a:ext cx="16002000" cy="2333625"/>
            <a:chOff x="0" y="0"/>
            <a:chExt cx="21336000" cy="31115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336000" cy="3111500"/>
            </a:xfrm>
            <a:custGeom>
              <a:avLst/>
              <a:gdLst/>
              <a:ahLst/>
              <a:cxnLst/>
              <a:rect r="r" b="b" t="t" l="l"/>
              <a:pathLst>
                <a:path h="3111500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3111500"/>
                  </a:lnTo>
                  <a:lnTo>
                    <a:pt x="0" y="3111500"/>
                  </a:lnTo>
                  <a:close/>
                </a:path>
              </a:pathLst>
            </a:custGeom>
            <a:solidFill>
              <a:srgbClr val="16243A"/>
            </a:solidFill>
            <a:ln w="9525" cap="sq">
              <a:solidFill>
                <a:srgbClr val="34465D"/>
              </a:solidFill>
              <a:prstDash val="lgDash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336000" cy="314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524000" y="6438900"/>
            <a:ext cx="150495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Mỗi lớp độc lập — lớp trước thủng thì lớp sau vẫn giữ.</a:t>
            </a: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F4F7F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Audit nằm cùng transaction với điểm → không tồn tại trạng thái “điểm đổi mà không có log”.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Top 5 rủi ro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90750"/>
            <a:ext cx="16192500" cy="4972050"/>
            <a:chOff x="0" y="0"/>
            <a:chExt cx="2159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590000" cy="6629400"/>
              <a:chOff x="0" y="0"/>
              <a:chExt cx="2159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59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59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511300" y="0"/>
              <a:ext cx="0" cy="66294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6908800" y="0"/>
              <a:ext cx="0" cy="66294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12306300" y="0"/>
              <a:ext cx="0" cy="66294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18135600" y="0"/>
              <a:ext cx="0" cy="66294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787400"/>
              <a:ext cx="2159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1955800"/>
              <a:ext cx="2159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3124200"/>
              <a:ext cx="2159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>
              <a:off x="0" y="4292600"/>
              <a:ext cx="2159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0" y="5461000"/>
              <a:ext cx="21590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5461000"/>
              <a:ext cx="21590000" cy="1168400"/>
              <a:chOff x="0" y="0"/>
              <a:chExt cx="21590000" cy="11684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159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17647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2159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228600" y="177800"/>
              <a:ext cx="1054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ID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7399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RỦI RO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71374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PREVENT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2534900" y="177800"/>
              <a:ext cx="5372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DETECT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8364200" y="177800"/>
              <a:ext cx="29972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TEST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10191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R01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7399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Phishing lộ mật khẩu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71374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 TOTP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2534900" y="10191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MFA_FAIL_THRESHOLD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8364200" y="10191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TC09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28600" y="21875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R02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7399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Đánh cắp cookie phiên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71374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Fingerprint + step-up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2534900" y="21875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SESSION_CONTEXT_MISMATCH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8364200" y="21875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TC14, TC15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28600" y="33559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R03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7399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Giả mạo JWT nâng quyền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71374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Cố định HS256, role từ DB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2534900" y="33559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JWT_INVALID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8364200" y="33559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TC11, TC12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28600" y="45243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R04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7399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IDOR: đổi enrollmentId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71374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RBAC + ownership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2534900" y="45243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ACCESS_DENIED_IDOR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18364200" y="45243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TC16, TC17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228600" y="56927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R08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7399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Insider sửa DB, xoá log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71374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audit_log append-only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2534900" y="56927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8364200" y="56927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F4F7FB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TC22–TC24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286000" y="2847975"/>
            <a:ext cx="13716000" cy="2695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50"/>
              </a:lnSpc>
            </a:pPr>
            <a:r>
              <a:rPr lang="en-US" b="true" sz="15750" spc="1260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DEMO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524750" y="5619750"/>
            <a:ext cx="3238500" cy="38100"/>
            <a:chOff x="0" y="0"/>
            <a:chExt cx="4318000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0" cy="50800"/>
            </a:xfrm>
            <a:custGeom>
              <a:avLst/>
              <a:gdLst/>
              <a:ahLst/>
              <a:cxnLst/>
              <a:rect r="r" b="b" t="t" l="l"/>
              <a:pathLst>
                <a:path h="508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429000" y="5819775"/>
            <a:ext cx="1143000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Chuyển sang màn hình live  ·  KB1 → KB6 trên hệ thống đang chạy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Kết quả kiểm thử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181350"/>
            <a:ext cx="657225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sz="12750" b="true">
                <a:solidFill>
                  <a:srgbClr val="F4F7F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25/25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5543550"/>
            <a:ext cx="4953000" cy="112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test case PASS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6 luồng bình thường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+ 19 test tấn công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0000" y="2190750"/>
            <a:ext cx="9429750" cy="5905500"/>
            <a:chOff x="0" y="0"/>
            <a:chExt cx="12573000" cy="787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73000" cy="7874000"/>
            </a:xfrm>
            <a:custGeom>
              <a:avLst/>
              <a:gdLst/>
              <a:ahLst/>
              <a:cxnLst/>
              <a:rect r="r" b="b" t="t" l="l"/>
              <a:pathLst>
                <a:path h="7874000" w="12573000">
                  <a:moveTo>
                    <a:pt x="0" y="0"/>
                  </a:moveTo>
                  <a:lnTo>
                    <a:pt x="12573000" y="0"/>
                  </a:lnTo>
                  <a:lnTo>
                    <a:pt x="12573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0F1C2E"/>
            </a:solidFill>
            <a:ln w="9525" cap="sq">
              <a:solidFill>
                <a:srgbClr val="34465D"/>
              </a:solidFill>
              <a:prstDash val="lgDash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573000" cy="791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477250" y="8391525"/>
            <a:ext cx="762000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34465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Trích kết quả thực tế — docs/evidence/07-run-tests-output.txt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53375" y="2466975"/>
            <a:ext cx="8763000" cy="4003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$ node tests/run-tests.mjs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TC01   PASS   bat buoc MFA lan dau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TC11   PASS   sua payload JWT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TC12   PASS   JWT alg=none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TC05   PASS   chuoi hash 268 dong, khong vi pham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TC22   PASS   sua diem thang trong DB -&gt; phat hien lech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TC24   PASS   sua audit id 3 -&gt; dut chuoi hash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TC23   PASS   app_user bi tu choi 4 lenh pha hoai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TC19   PASS   SQLi qua WAF -&gt; 403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TC21   PASS   chi waf anh xa port ra host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TC09   PASS   3 lan OTP sai -&gt; khoa, canh bao HIGH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 ...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AAB6C6"/>
                </a:solidFill>
                <a:latin typeface="Arimo"/>
                <a:ea typeface="Arimo"/>
                <a:cs typeface="Arimo"/>
                <a:sym typeface="Arimo"/>
              </a:rPr>
              <a:t>25/25 PASS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57300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Trade-off có số đo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621000" cy="3790950"/>
            <a:chOff x="0" y="0"/>
            <a:chExt cx="20828000" cy="5054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828000" cy="5054600"/>
              <a:chOff x="0" y="0"/>
              <a:chExt cx="20828000" cy="5054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828000" cy="5054600"/>
              </a:xfrm>
              <a:custGeom>
                <a:avLst/>
                <a:gdLst/>
                <a:ahLst/>
                <a:cxnLst/>
                <a:rect r="r" b="b" t="t" l="l"/>
                <a:pathLst>
                  <a:path h="5054600" w="20828000">
                    <a:moveTo>
                      <a:pt x="0" y="0"/>
                    </a:moveTo>
                    <a:lnTo>
                      <a:pt x="20828000" y="0"/>
                    </a:lnTo>
                    <a:lnTo>
                      <a:pt x="20828000" y="5054600"/>
                    </a:lnTo>
                    <a:lnTo>
                      <a:pt x="0" y="50546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828000" cy="5092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747760" y="0"/>
              <a:ext cx="0" cy="50546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13954760" y="0"/>
              <a:ext cx="0" cy="50546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787400"/>
              <a:ext cx="20828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2209800"/>
              <a:ext cx="20828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3632200"/>
              <a:ext cx="20828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829056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QUYẾT ĐỊNH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8976360" y="177800"/>
              <a:ext cx="4749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CÁI GIÁ ĐO ĐƯỢC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4183360" y="177800"/>
              <a:ext cx="641604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NHÓM CHỌN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191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T2 — Step-up OTP mỗi lần sửa điểm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8976360" y="10191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OTP không dùng lại được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4183360" y="10191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Giữ cho prototype · dài hạn sudo mode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24415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T5 — WAF Paranoia Level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976360" y="24415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hợp lệ bị chặn oan (PL1)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4183360" y="24415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PL1 — PL2 chặn oan 1/15, không bắt thêm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38639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T7 — Backup hằng ngày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976360" y="38639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RTO đo được khi khôi phục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4183360" y="38639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Hằng ngày — RPO 24 giờ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7953375" y="3667125"/>
            <a:ext cx="361950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F4F7F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1 sửa / 30 giây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953375" y="47339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F4F7F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0/15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53375" y="58007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F4F7F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5–6 giây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F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333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Hạn chế và hướng phát triển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43125"/>
            <a:ext cx="15811500" cy="4972050"/>
            <a:chOff x="0" y="0"/>
            <a:chExt cx="21082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082000" cy="6629400"/>
              <a:chOff x="0" y="0"/>
              <a:chExt cx="21082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082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082000">
                    <a:moveTo>
                      <a:pt x="0" y="0"/>
                    </a:moveTo>
                    <a:lnTo>
                      <a:pt x="21082000" y="0"/>
                    </a:lnTo>
                    <a:lnTo>
                      <a:pt x="21082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192A42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082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0541000" y="0"/>
              <a:ext cx="0" cy="662940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1082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1082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1082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1082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1082000" cy="0"/>
            </a:xfrm>
            <a:prstGeom prst="line">
              <a:avLst/>
            </a:prstGeom>
            <a:ln cap="flat" w="12700">
              <a:solidFill>
                <a:srgbClr val="34465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7" id="17"/>
            <p:cNvSpPr txBox="true"/>
            <p:nvPr/>
          </p:nvSpPr>
          <p:spPr>
            <a:xfrm rot="0">
              <a:off x="228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HẠN CHẾ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0769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HƯỚNG XỬ LÝ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 trong lab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0769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HTTPS + HSTS + cookie secure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228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TOTP không chống phishing thời gian thực (AiTM)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0769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Passkey / WebAuthn — gắn với origin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28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Superuser DB vẫn tính lại được hash-chain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769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SIEM + WORM storage; tạm thời anchor lastHash ra ngoài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mfa_secret lưu dạng rõ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769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AES-256-GCM với MFA_ENC_KEY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28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RPO 24 giờ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769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AAB6C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PITR / WAL archiving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AAB6C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952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Bốn kết luận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267652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33625" y="258127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bị đánh cắp là không đủ — và để lại cảnh báo có ý nghĩa điều tra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750" y="405765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3625" y="396240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Cookie phiên bị đánh cắp là không đủ — fingerprint phát hiện, step-up OTP chặn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43877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33625" y="534352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Hệ thống không tin cả DB của chính mình — hash-chain bắt được cả insider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750" y="681990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333625" y="672465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F4F7FB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Defense-in-Depth là thật: bỏ qua WAF, payload SQLi vẫn bị chặn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7750" y="9153525"/>
            <a:ext cx="76200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AAB6C6"/>
                </a:solidFill>
                <a:latin typeface="IBM Plex Sans"/>
                <a:ea typeface="IBM Plex Sans"/>
                <a:cs typeface="IBM Plex Sans"/>
                <a:sym typeface="IBM Plex Sans"/>
              </a:rPr>
              <a:t>Xin cảm ơn — mời hỏi đáp.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DAHZY0ytr6Y</dc:identifier>
  <dcterms:modified xsi:type="dcterms:W3CDTF">2011-08-01T06:04:30Z</dcterms:modified>
  <cp:revision>1</cp:revision>
  <dc:title>SecureGrade chống giả mạo</dc:title>
</cp:coreProperties>
</file>